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ba3c01938c4f28" /><Relationship Type="http://schemas.openxmlformats.org/officeDocument/2006/relationships/extended-properties" Target="/docProps/app.xml" Id="R95c0ed4245b7416d" /><Relationship Type="http://schemas.openxmlformats.org/officeDocument/2006/relationships/officeDocument" Target="/ppt/presentation.xml" Id="Rf0c5b7e54bf34994" /></Relationships>
</file>

<file path=ppt/presentation.xml><?xml version="1.0" encoding="utf-8"?>
<p:presentation xmlns:p="http://schemas.openxmlformats.org/presentationml/2006/main">
  <p:sldMasterIdLst>
    <p:sldMasterId xmlns:r="http://schemas.openxmlformats.org/officeDocument/2006/relationships" id="2147483648" r:id="R74dbd97895774729"/>
  </p:sldMasterIdLst>
  <p:notesMasterIdLst>
    <p:notesMasterId xmlns:r="http://schemas.openxmlformats.org/officeDocument/2006/relationships" r:id="R034cd75903c9410c"/>
  </p:notesMasterIdLst>
  <p:sldIdLst>
    <p:sldId xmlns:r="http://schemas.openxmlformats.org/officeDocument/2006/relationships" id="256" r:id="Rbf43743a91ab41cc"/>
    <p:sldId xmlns:r="http://schemas.openxmlformats.org/officeDocument/2006/relationships" id="257" r:id="Rff1b309d6448496e"/>
    <p:sldId xmlns:r="http://schemas.openxmlformats.org/officeDocument/2006/relationships" id="258" r:id="R74e2dc8e044f459f"/>
    <p:sldId xmlns:r="http://schemas.openxmlformats.org/officeDocument/2006/relationships" id="259" r:id="Rdb6c8108b0654f63"/>
    <p:sldId xmlns:r="http://schemas.openxmlformats.org/officeDocument/2006/relationships" id="260" r:id="R26b29bef4ecd4491"/>
    <p:sldId xmlns:r="http://schemas.openxmlformats.org/officeDocument/2006/relationships" id="261" r:id="R78fe167332864062"/>
    <p:sldId xmlns:r="http://schemas.openxmlformats.org/officeDocument/2006/relationships" id="262" r:id="R174e32708f9d44af"/>
    <p:sldId xmlns:r="http://schemas.openxmlformats.org/officeDocument/2006/relationships" id="263" r:id="R7619ee06d9194e46"/>
    <p:sldId xmlns:r="http://schemas.openxmlformats.org/officeDocument/2006/relationships" id="264" r:id="R6f2ce5867d624599"/>
    <p:sldId xmlns:r="http://schemas.openxmlformats.org/officeDocument/2006/relationships" id="265" r:id="Rccea6defe04a45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d9e20cdb914cb9" /><Relationship Type="http://schemas.openxmlformats.org/officeDocument/2006/relationships/slideMaster" Target="/ppt/slideMasters/slideMaster1.xml" Id="R74dbd97895774729" /><Relationship Type="http://schemas.openxmlformats.org/officeDocument/2006/relationships/notesMaster" Target="/ppt/notesMasters/notesMaster1.xml" Id="R034cd75903c9410c" /><Relationship Type="http://schemas.openxmlformats.org/officeDocument/2006/relationships/presProps" Target="/ppt/presProps.xml" Id="Rd1d7545eacbd49f8" /><Relationship Type="http://schemas.openxmlformats.org/officeDocument/2006/relationships/tableStyles" Target="/ppt/tableStyles.xml" Id="R4b19a2326bee49cf" /><Relationship Type="http://schemas.openxmlformats.org/officeDocument/2006/relationships/slide" Target="/ppt/slides/slide1.xml" Id="Rbf43743a91ab41cc" /><Relationship Type="http://schemas.openxmlformats.org/officeDocument/2006/relationships/slide" Target="/ppt/slides/slide2.xml" Id="Rff1b309d6448496e" /><Relationship Type="http://schemas.openxmlformats.org/officeDocument/2006/relationships/slide" Target="/ppt/slides/slide3.xml" Id="R74e2dc8e044f459f" /><Relationship Type="http://schemas.openxmlformats.org/officeDocument/2006/relationships/slide" Target="/ppt/slides/slide4.xml" Id="Rdb6c8108b0654f63" /><Relationship Type="http://schemas.openxmlformats.org/officeDocument/2006/relationships/slide" Target="/ppt/slides/slide5.xml" Id="R26b29bef4ecd4491" /><Relationship Type="http://schemas.openxmlformats.org/officeDocument/2006/relationships/slide" Target="/ppt/slides/slide6.xml" Id="R78fe167332864062" /><Relationship Type="http://schemas.openxmlformats.org/officeDocument/2006/relationships/slide" Target="/ppt/slides/slide7.xml" Id="R174e32708f9d44af" /><Relationship Type="http://schemas.openxmlformats.org/officeDocument/2006/relationships/slide" Target="/ppt/slides/slide8.xml" Id="R7619ee06d9194e46" /><Relationship Type="http://schemas.openxmlformats.org/officeDocument/2006/relationships/slide" Target="/ppt/slides/slide9.xml" Id="R6f2ce5867d624599" /><Relationship Type="http://schemas.openxmlformats.org/officeDocument/2006/relationships/slide" Target="/ppt/slides/slide10.xml" Id="Rccea6defe04a45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699d2ff61241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a016be4dfc4375" /><Relationship Type="http://schemas.openxmlformats.org/officeDocument/2006/relationships/notesMaster" Target="/ppt/notesMasters/notesMaster1.xml" Id="R63b6e7fc9b1146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636c7d6b164d62" /><Relationship Type="http://schemas.openxmlformats.org/officeDocument/2006/relationships/notesMaster" Target="/ppt/notesMasters/notesMaster1.xml" Id="R494dfae6d6c14d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79c82b3ce64d36" /><Relationship Type="http://schemas.openxmlformats.org/officeDocument/2006/relationships/notesMaster" Target="/ppt/notesMasters/notesMaster1.xml" Id="R28c45226ee7a4e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6a393fd3914651" /><Relationship Type="http://schemas.openxmlformats.org/officeDocument/2006/relationships/notesMaster" Target="/ppt/notesMasters/notesMaster1.xml" Id="Rbbe9fa335e6843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d8cb5e807c477d" /><Relationship Type="http://schemas.openxmlformats.org/officeDocument/2006/relationships/notesMaster" Target="/ppt/notesMasters/notesMaster1.xml" Id="Rfacae91711c040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a6a8f72c10441d" /><Relationship Type="http://schemas.openxmlformats.org/officeDocument/2006/relationships/notesMaster" Target="/ppt/notesMasters/notesMaster1.xml" Id="R79ad9dddafc14a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2b95e901b64d2e" /><Relationship Type="http://schemas.openxmlformats.org/officeDocument/2006/relationships/notesMaster" Target="/ppt/notesMasters/notesMaster1.xml" Id="R4022bde9408c41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a8ab9c769b4ccd" /><Relationship Type="http://schemas.openxmlformats.org/officeDocument/2006/relationships/notesMaster" Target="/ppt/notesMasters/notesMaster1.xml" Id="R63073fe51b804f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56df29e95a4d4f" /><Relationship Type="http://schemas.openxmlformats.org/officeDocument/2006/relationships/notesMaster" Target="/ppt/notesMasters/notesMaster1.xml" Id="R10c7c27bc6f647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697a1e535441f0" /><Relationship Type="http://schemas.openxmlformats.org/officeDocument/2006/relationships/notesMaster" Target="/ppt/notesMasters/notesMaster1.xml" Id="Rb1e15a83f4c94a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The presentation balances the effort behind the redesign, value already available, and possibilities for editorial development. Artwork: projects/site/assets/home/life-after-rain.webp.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Dates use America/Los_Angeles (Pacific Time). The original design proposal is dated 29 September 2026. Activity evidence: KBL-EVT-011/012/013 for profile and poem capture on 29 September; 030/032/040 for Facebook on 30 September; 272 for completion of 427 narratives on 1 October; 310/313/328/343/351 for reader refinements, credits, audit and hosted preview on 2 October. This is a milestone chronology, not a timesheet or claim of measured hours.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Sources: README.md; kb/research/edition-content-import.md; kb/records/github-pages-preview-deployment.json. 801 records captured; 2 unavailable records preserved outside active editions; 799 active poem records. This is not a claim that unresolved editorial questions are closed. Screenshot: hosted archive captured 2 October 2026 in project-story-2026-10-02/screenshots/archive.png.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Sources: kb/registers/activity.jsonl KBL-EVT-272, 343; README.md. All 427 enriched narratives applied. Source-limited profiles remain modest; a few identity and credit questions need editor confirmation. Narmada Nilotpala artistic portrait derives from an existing photograph: projects/site/assets/writers/82-earth-voice-v1.png. Wider portrait rollout remains under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Sources: kb/artifacts/design/brand-guide/DESIGN-SYSTEM.md reading rules; quiet-reader implementation and checks in activity ledger. Bookmarks and marks stay on the reader’s device. Screenshot: hosted quiet reader captured 2 October 2026. Visible poem: Mrittika by Anindita Bose, Issue 47; poetry rights remain with the author. Better conditions for reading are an intended benefit, not measured engagement 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 approved brand guide. English display uses Cormorant Garamond; reading uses Source Serif 4; Odia uses Noto Serif Oriya; Hindi uses Tiro Devanagari Hindi. Screenshot from the hosted homepage, captured 2 October 2026. Cultural presence describes the design intent, not a measured audience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Sources: KBL-WORK-018 editor guide and proposal; kb/reference/storage-layout.md; approved brand guide. The expected reduction in routine rework has not been quantified. Editorial desk artwork: projects/site/assets/section-art/editorial-desk.webp.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These are proposals for editorial exploration, not implemented features or scheduled commitments. Translation drafts need editorial/linguistic review; recited audio remains deferred. New artwork, readings and translations require appropriate contributor involvement and permissions. Private feedback is the agreed engagement model; public comments are not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Illustrative editorial concept only. No poems have been selected and no collection is published or scheduled. Original language and author credits should remain beside each poem; translations only after review. Artwork: projects/site/assets/section-art/gatherings.webp, existing journal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kb/TEAM-CHARTER.md; kb/artifacts/design/brand-guide/DESIGN-SYSTEM.md; kb/registers/activity.jsonl. Design direction: Ahimanikya Satapathy, with AI assistance. Existing journal illustrations include AI-assisted artwork; preserved originals remain in the project KB. Hosted preview: https://ahimanikya.github.io/kabita-live/ . Source: kb/records/github-pages-preview-deployment.json. Existing domain unchanged; DNS transition is separate. Translation/identity review and portrait work continue. No measured traffic, engagement or productivity uplift is claimed. Acknowledgements: editors, contributors, Sonu Swayin and Versatile IT Services Pvt. Ltd. for hosting and managing Kabita Live since inception. Artwork: projects/site/assets/section-art/our-story.webp.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f71db74c9f40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bd13fe9ea74d21" /><Relationship Type="http://schemas.openxmlformats.org/officeDocument/2006/relationships/slideLayout" Target="/ppt/slideLayouts/slideLayout1.xml" Id="Rdf1f9be7854b4e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1f9be7854b4e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de8f5dedcb4de2" /><Relationship Type="http://schemas.openxmlformats.org/officeDocument/2006/relationships/image" Target="/ppt/media/image.jpeg" Id="R03bb105db6504624" /><Relationship Type="http://schemas.openxmlformats.org/officeDocument/2006/relationships/notesSlide" Target="/ppt/notesSlides/notesSlide1.xml" Id="R00a0352e2eb342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c7d7f10c2d4a5d" /><Relationship Type="http://schemas.openxmlformats.org/officeDocument/2006/relationships/notesSlide" Target="/ppt/notesSlides/notesSlide2.xml" Id="R5a20b6c0b55443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f386d5187346a6" /><Relationship Type="http://schemas.openxmlformats.org/officeDocument/2006/relationships/image" Target="/ppt/media/image2.jpeg" Id="R54d565b7dbc44559" /><Relationship Type="http://schemas.openxmlformats.org/officeDocument/2006/relationships/notesSlide" Target="/ppt/notesSlides/notesSlide3.xml" Id="Rcdcc5bd6017447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54f0695c414000" /><Relationship Type="http://schemas.openxmlformats.org/officeDocument/2006/relationships/image" Target="/ppt/media/image3.jpeg" Id="Rd0e059be32474709" /><Relationship Type="http://schemas.openxmlformats.org/officeDocument/2006/relationships/notesSlide" Target="/ppt/notesSlides/notesSlide4.xml" Id="R70e584fd2ab041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be481feb6564fa7" /><Relationship Type="http://schemas.openxmlformats.org/officeDocument/2006/relationships/image" Target="/ppt/media/image4.jpeg" Id="R3abefdb1f3634b31" /><Relationship Type="http://schemas.openxmlformats.org/officeDocument/2006/relationships/notesSlide" Target="/ppt/notesSlides/notesSlide5.xml" Id="R8cd6e9f052764f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b1a98eb9b7481f" /><Relationship Type="http://schemas.openxmlformats.org/officeDocument/2006/relationships/image" Target="/ppt/media/image5.jpeg" Id="Rf4a16a1374e84103" /><Relationship Type="http://schemas.openxmlformats.org/officeDocument/2006/relationships/notesSlide" Target="/ppt/notesSlides/notesSlide6.xml" Id="R98cccfcb507a4d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6c416fbc4f4401" /><Relationship Type="http://schemas.openxmlformats.org/officeDocument/2006/relationships/image" Target="/ppt/media/image6.jpeg" Id="R59f607167fa04cd6" /><Relationship Type="http://schemas.openxmlformats.org/officeDocument/2006/relationships/notesSlide" Target="/ppt/notesSlides/notesSlide7.xml" Id="Rcee6cdaedc0042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0863d86ead8429f" /><Relationship Type="http://schemas.openxmlformats.org/officeDocument/2006/relationships/notesSlide" Target="/ppt/notesSlides/notesSlide8.xml" Id="R1a3486eff41947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dee1e3e05943d6" /><Relationship Type="http://schemas.openxmlformats.org/officeDocument/2006/relationships/image" Target="/ppt/media/image7.jpeg" Id="R2f41bde697c7423b" /><Relationship Type="http://schemas.openxmlformats.org/officeDocument/2006/relationships/notesSlide" Target="/ppt/notesSlides/notesSlide9.xml" Id="R50faf30d666f49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814f41fa53146e4" /><Relationship Type="http://schemas.openxmlformats.org/officeDocument/2006/relationships/image" Target="/ppt/media/image8.jpeg" Id="Rc3f0f206021a4837" /><Relationship Type="http://schemas.openxmlformats.org/officeDocument/2006/relationships/hyperlink" Target="https://ahimanikya.github.io/kabita-live/" TargetMode="External" Id="R5b10d3a4098c4b74" /><Relationship Type="http://schemas.openxmlformats.org/officeDocument/2006/relationships/notesSlide" Target="/ppt/notesSlides/notesSlide10.xml" Id="Rb4f816d6c463482d" /></Relationships>
</file>

<file path=ppt/slides/slide1.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3442C9-99CE-4094-B894-1C1F550F0802}"/>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2" name="">
            <a:extLst xmlns:a="http://schemas.openxmlformats.org/drawingml/2006/main">
              <a:ext uri="{FF2B5EF4-FFF2-40B4-BE49-F238E27FC236}">
                <a16:creationId xmlns:a16="http://schemas.microsoft.com/office/drawing/2014/main" id="{2B90EB26-1769-45E2-9E6D-6A71594163A4}"/>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01</a:t>
            </a:r>
          </a:p>
        </p:txBody>
      </p:sp>
      <p:sp>
        <p:nvSpPr>
          <p:cNvPr id="3" name="">
            <a:extLst xmlns:a="http://schemas.openxmlformats.org/drawingml/2006/main">
              <a:ext uri="{FF2B5EF4-FFF2-40B4-BE49-F238E27FC236}">
                <a16:creationId xmlns:a16="http://schemas.microsoft.com/office/drawing/2014/main" id="{9605FA7D-D94D-4DBC-A804-055F99F8B419}"/>
              </a:ext>
            </a:extLst>
          </p:cNvPr>
          <p:cNvSpPr>
            <a:spLocks xmlns:a="http://schemas.openxmlformats.org/drawingml/2006/main" noGrp="1"/>
          </p:cNvSpPr>
          <p:nvPr/>
        </p:nvSpPr>
        <p:spPr>
          <a:xfrm xmlns:a="http://schemas.openxmlformats.org/drawingml/2006/main">
            <a:off x="666750" y="800100"/>
            <a:ext cx="4667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400">
                <a:solidFill>
                  <a:srgbClr val="263C3C"/>
                </a:solidFill>
                <a:latin typeface="Cormorant Garamond"/>
                <a:ea typeface="Cormorant Garamond"/>
                <a:cs typeface="Cormorant Garamond"/>
              </a:defRPr>
            </a:pPr>
            <a:r>
              <a:rPr sz="5400">
                <a:solidFill>
                  <a:srgbClr val="263C3C"/>
                </a:solidFill>
                <a:latin typeface="Cormorant Garamond"/>
                <a:ea typeface="Cormorant Garamond"/>
                <a:cs typeface="Cormorant Garamond"/>
              </a:rPr>
              <a:t>Kabita Live</a:t>
            </a:r>
          </a:p>
        </p:txBody>
      </p:sp>
      <p:sp>
        <p:nvSpPr>
          <p:cNvPr id="4" name="">
            <a:extLst xmlns:a="http://schemas.openxmlformats.org/drawingml/2006/main">
              <a:ext uri="{FF2B5EF4-FFF2-40B4-BE49-F238E27FC236}">
                <a16:creationId xmlns:a16="http://schemas.microsoft.com/office/drawing/2014/main" id="{1585F2B1-4C75-46BC-8A85-600387486994}"/>
              </a:ext>
            </a:extLst>
          </p:cNvPr>
          <p:cNvSpPr>
            <a:spLocks xmlns:a="http://schemas.openxmlformats.org/drawingml/2006/main" noGrp="1"/>
          </p:cNvSpPr>
          <p:nvPr/>
        </p:nvSpPr>
        <p:spPr>
          <a:xfrm xmlns:a="http://schemas.openxmlformats.org/drawingml/2006/main">
            <a:off x="666750" y="1857375"/>
            <a:ext cx="47148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00">
                <a:solidFill>
                  <a:srgbClr val="263C3C"/>
                </a:solidFill>
                <a:latin typeface="Cormorant Garamond"/>
                <a:ea typeface="Cormorant Garamond"/>
                <a:cs typeface="Cormorant Garamond"/>
              </a:defRPr>
            </a:pPr>
            <a:r>
              <a:rPr sz="4200">
                <a:solidFill>
                  <a:srgbClr val="263C3C"/>
                </a:solidFill>
                <a:latin typeface="Cormorant Garamond"/>
                <a:ea typeface="Cormorant Garamond"/>
                <a:cs typeface="Cormorant Garamond"/>
              </a:rPr>
              <a:t>The value we created</a:t>
            </a:r>
          </a:p>
        </p:txBody>
      </p:sp>
      <p:sp>
        <p:nvSpPr>
          <p:cNvPr id="5" name="">
            <a:extLst xmlns:a="http://schemas.openxmlformats.org/drawingml/2006/main">
              <a:ext uri="{FF2B5EF4-FFF2-40B4-BE49-F238E27FC236}">
                <a16:creationId xmlns:a16="http://schemas.microsoft.com/office/drawing/2014/main" id="{F3C66952-A11D-40DE-9F2D-5CBEBC1A86CE}"/>
              </a:ext>
            </a:extLst>
          </p:cNvPr>
          <p:cNvSpPr>
            <a:spLocks xmlns:a="http://schemas.openxmlformats.org/drawingml/2006/main" noGrp="1"/>
          </p:cNvSpPr>
          <p:nvPr/>
        </p:nvSpPr>
        <p:spPr>
          <a:xfrm xmlns:a="http://schemas.openxmlformats.org/drawingml/2006/main">
            <a:off x="666750" y="3619500"/>
            <a:ext cx="4238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Our work, its value and the creative possibilities ahead</a:t>
            </a:r>
          </a:p>
        </p:txBody>
      </p:sp>
      <p:sp>
        <p:nvSpPr>
          <p:cNvPr id="6" name="">
            <a:extLst xmlns:a="http://schemas.openxmlformats.org/drawingml/2006/main">
              <a:ext uri="{FF2B5EF4-FFF2-40B4-BE49-F238E27FC236}">
                <a16:creationId xmlns:a16="http://schemas.microsoft.com/office/drawing/2014/main" id="{FD41CD1F-0F4B-4CB0-A636-C34B9E1FC4C2}"/>
              </a:ext>
            </a:extLst>
          </p:cNvPr>
          <p:cNvSpPr>
            <a:spLocks xmlns:a="http://schemas.openxmlformats.org/drawingml/2006/main" noGrp="1"/>
          </p:cNvSpPr>
          <p:nvPr/>
        </p:nvSpPr>
        <p:spPr>
          <a:xfrm xmlns:a="http://schemas.openxmlformats.org/drawingml/2006/main">
            <a:off x="666750" y="531495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963F28"/>
                </a:solidFill>
                <a:latin typeface="Source Serif 4"/>
                <a:ea typeface="Source Serif 4"/>
                <a:cs typeface="Source Serif 4"/>
              </a:defRPr>
            </a:pPr>
            <a:r>
              <a:rPr sz="1725">
                <a:solidFill>
                  <a:srgbClr val="963F28"/>
                </a:solidFill>
                <a:latin typeface="Source Serif 4"/>
                <a:ea typeface="Source Serif 4"/>
                <a:cs typeface="Source Serif 4"/>
              </a:rPr>
              <a:t>For editors and friends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3bb105db6504624"/>
          <a:stretch xmlns:a="http://schemas.openxmlformats.org/drawingml/2006/main"/>
        </p:blipFill>
        <p:spPr>
          <a:xfrm xmlns:a="http://schemas.openxmlformats.org/drawingml/2006/main">
            <a:off x="5905500" y="1498600"/>
            <a:ext cx="5619750" cy="3746500"/>
          </a:xfrm>
          <a:prstGeom xmlns:a="http://schemas.openxmlformats.org/drawingml/2006/main" prst="rect">
            <a:avLst/>
          </a:prstGeom>
        </p:spPr>
      </p:pic>
    </p:spTree>
    <p:extLst>
      <p:ext uri="{BB962C8B-B14F-4D97-AF65-F5344CB8AC3E}">
        <p14:creationId xmlns:p14="http://schemas.microsoft.com/office/powerpoint/2010/main" val="94353378"/>
      </p:ext>
    </p:extLst>
  </p:cSld>
</p:sld>
</file>

<file path=ppt/slides/slide2.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F9CCD9C-D31C-4BD0-AC32-71348B53DF7D}"/>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Our project timeline</a:t>
            </a:r>
          </a:p>
        </p:txBody>
      </p:sp>
      <p:sp>
        <p:nvSpPr>
          <p:cNvPr id="2" name="">
            <a:extLst xmlns:a="http://schemas.openxmlformats.org/drawingml/2006/main">
              <a:ext uri="{FF2B5EF4-FFF2-40B4-BE49-F238E27FC236}">
                <a16:creationId xmlns:a16="http://schemas.microsoft.com/office/drawing/2014/main" id="{3180E6DE-81DD-4E76-BE7B-2ED3ABF3ED47}"/>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CEBCC508-9630-4B2B-85B9-3461628310C9}"/>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02</a:t>
            </a:r>
          </a:p>
        </p:txBody>
      </p:sp>
      <p:sp>
        <p:nvSpPr>
          <p:cNvPr id="4" name="">
            <a:extLst xmlns:a="http://schemas.openxmlformats.org/drawingml/2006/main">
              <a:ext uri="{FF2B5EF4-FFF2-40B4-BE49-F238E27FC236}">
                <a16:creationId xmlns:a16="http://schemas.microsoft.com/office/drawing/2014/main" id="{4B820CDF-60D8-4D34-BEF7-0C56EEDCB467}"/>
              </a:ext>
            </a:extLst>
          </p:cNvPr>
          <p:cNvSpPr>
            <a:spLocks xmlns:a="http://schemas.openxmlformats.org/drawingml/2006/main" noGrp="1"/>
          </p:cNvSpPr>
          <p:nvPr/>
        </p:nvSpPr>
        <p:spPr>
          <a:xfrm xmlns:a="http://schemas.openxmlformats.org/drawingml/2006/main">
            <a:off x="666750" y="13239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a:solidFill>
                  <a:srgbClr val="963F28"/>
                </a:solidFill>
                <a:latin typeface="Source Serif 4"/>
                <a:ea typeface="Source Serif 4"/>
                <a:cs typeface="Source Serif 4"/>
              </a:defRPr>
            </a:pPr>
            <a:r>
              <a:rPr sz="1800">
                <a:solidFill>
                  <a:srgbClr val="963F28"/>
                </a:solidFill>
                <a:latin typeface="Source Serif 4"/>
                <a:ea typeface="Source Serif 4"/>
                <a:cs typeface="Source Serif 4"/>
              </a:rPr>
              <a:t>29 September - 2 October 2026</a:t>
            </a:r>
          </a:p>
        </p:txBody>
      </p:sp>
      <p:sp>
        <p:nvSpPr>
          <p:cNvPr id="5" name="">
            <a:extLst xmlns:a="http://schemas.openxmlformats.org/drawingml/2006/main">
              <a:ext uri="{FF2B5EF4-FFF2-40B4-BE49-F238E27FC236}">
                <a16:creationId xmlns:a16="http://schemas.microsoft.com/office/drawing/2014/main" id="{4A0D5A93-A565-48A9-ACA8-4177BD43151D}"/>
              </a:ext>
            </a:extLst>
          </p:cNvPr>
          <p:cNvSpPr>
            <a:spLocks xmlns:a="http://schemas.openxmlformats.org/drawingml/2006/main" noGrp="1"/>
          </p:cNvSpPr>
          <p:nvPr/>
        </p:nvSpPr>
        <p:spPr>
          <a:xfrm xmlns:a="http://schemas.openxmlformats.org/drawingml/2006/main">
            <a:off x="666750" y="1981200"/>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29 SEP</a:t>
            </a:r>
          </a:p>
        </p:txBody>
      </p:sp>
      <p:sp>
        <p:nvSpPr>
          <p:cNvPr id="6" name="">
            <a:extLst xmlns:a="http://schemas.openxmlformats.org/drawingml/2006/main">
              <a:ext uri="{FF2B5EF4-FFF2-40B4-BE49-F238E27FC236}">
                <a16:creationId xmlns:a16="http://schemas.microsoft.com/office/drawing/2014/main" id="{346A359F-5FE2-44A1-AC83-414EDCA95699}"/>
              </a:ext>
            </a:extLst>
          </p:cNvPr>
          <p:cNvSpPr>
            <a:spLocks xmlns:a="http://schemas.openxmlformats.org/drawingml/2006/main" noGrp="1"/>
          </p:cNvSpPr>
          <p:nvPr/>
        </p:nvSpPr>
        <p:spPr>
          <a:xfrm xmlns:a="http://schemas.openxmlformats.org/drawingml/2006/main">
            <a:off x="2600325" y="1981200"/>
            <a:ext cx="876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63C3C"/>
                </a:solidFill>
                <a:latin typeface="Cormorant Garamond"/>
                <a:ea typeface="Cormorant Garamond"/>
                <a:cs typeface="Cormorant Garamond"/>
              </a:defRPr>
            </a:pPr>
            <a:r>
              <a:rPr sz="2325">
                <a:solidFill>
                  <a:srgbClr val="263C3C"/>
                </a:solidFill>
                <a:latin typeface="Cormorant Garamond"/>
                <a:ea typeface="Cormorant Garamond"/>
                <a:cs typeface="Cormorant Garamond"/>
              </a:rPr>
              <a:t>Study, design and preservation</a:t>
            </a:r>
          </a:p>
        </p:txBody>
      </p:sp>
      <p:sp>
        <p:nvSpPr>
          <p:cNvPr id="7" name="">
            <a:extLst xmlns:a="http://schemas.openxmlformats.org/drawingml/2006/main">
              <a:ext uri="{FF2B5EF4-FFF2-40B4-BE49-F238E27FC236}">
                <a16:creationId xmlns:a16="http://schemas.microsoft.com/office/drawing/2014/main" id="{3A590F0E-3764-4093-AA86-57553F04A24E}"/>
              </a:ext>
            </a:extLst>
          </p:cNvPr>
          <p:cNvSpPr>
            <a:spLocks xmlns:a="http://schemas.openxmlformats.org/drawingml/2006/main" noGrp="1"/>
          </p:cNvSpPr>
          <p:nvPr/>
        </p:nvSpPr>
        <p:spPr>
          <a:xfrm xmlns:a="http://schemas.openxmlformats.org/drawingml/2006/main">
            <a:off x="2600325" y="239077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263C3C"/>
                </a:solidFill>
                <a:latin typeface="Source Serif 4"/>
                <a:ea typeface="Source Serif 4"/>
                <a:cs typeface="Source Serif 4"/>
              </a:defRPr>
            </a:pPr>
            <a:r>
              <a:rPr sz="1725">
                <a:solidFill>
                  <a:srgbClr val="263C3C"/>
                </a:solidFill>
                <a:latin typeface="Source Serif 4"/>
                <a:ea typeface="Source Serif 4"/>
                <a:cs typeface="Source Serif 4"/>
              </a:rPr>
              <a:t>Design proposal and visual direction; 47 editions and 801 poem records captured.</a:t>
            </a:r>
          </a:p>
        </p:txBody>
      </p:sp>
      <p:sp>
        <p:nvSpPr>
          <p:cNvPr id="8" name="">
            <a:extLst xmlns:a="http://schemas.openxmlformats.org/drawingml/2006/main">
              <a:ext uri="{FF2B5EF4-FFF2-40B4-BE49-F238E27FC236}">
                <a16:creationId xmlns:a16="http://schemas.microsoft.com/office/drawing/2014/main" id="{27E93B7A-2029-4269-B968-84E4B05FF2C9}"/>
              </a:ext>
            </a:extLst>
          </p:cNvPr>
          <p:cNvSpPr>
            <a:spLocks xmlns:a="http://schemas.openxmlformats.org/drawingml/2006/main" noGrp="1"/>
          </p:cNvSpPr>
          <p:nvPr/>
        </p:nvSpPr>
        <p:spPr>
          <a:xfrm xmlns:a="http://schemas.openxmlformats.org/drawingml/2006/main">
            <a:off x="666750" y="3009900"/>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30 SEP</a:t>
            </a:r>
          </a:p>
        </p:txBody>
      </p:sp>
      <p:sp>
        <p:nvSpPr>
          <p:cNvPr id="9" name="">
            <a:extLst xmlns:a="http://schemas.openxmlformats.org/drawingml/2006/main">
              <a:ext uri="{FF2B5EF4-FFF2-40B4-BE49-F238E27FC236}">
                <a16:creationId xmlns:a16="http://schemas.microsoft.com/office/drawing/2014/main" id="{0B062375-C976-49CC-931A-C6B0D7E33C7C}"/>
              </a:ext>
            </a:extLst>
          </p:cNvPr>
          <p:cNvSpPr>
            <a:spLocks xmlns:a="http://schemas.openxmlformats.org/drawingml/2006/main" noGrp="1"/>
          </p:cNvSpPr>
          <p:nvPr/>
        </p:nvSpPr>
        <p:spPr>
          <a:xfrm xmlns:a="http://schemas.openxmlformats.org/drawingml/2006/main">
            <a:off x="2600325" y="3009900"/>
            <a:ext cx="876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63C3C"/>
                </a:solidFill>
                <a:latin typeface="Cormorant Garamond"/>
                <a:ea typeface="Cormorant Garamond"/>
                <a:cs typeface="Cormorant Garamond"/>
              </a:defRPr>
            </a:pPr>
            <a:r>
              <a:rPr sz="2325">
                <a:solidFill>
                  <a:srgbClr val="263C3C"/>
                </a:solidFill>
                <a:latin typeface="Cormorant Garamond"/>
                <a:ea typeface="Cormorant Garamond"/>
                <a:cs typeface="Cormorant Garamond"/>
              </a:rPr>
              <a:t>Reader experiments and editorial preparation</a:t>
            </a:r>
          </a:p>
        </p:txBody>
      </p:sp>
      <p:sp>
        <p:nvSpPr>
          <p:cNvPr id="10" name="">
            <a:extLst xmlns:a="http://schemas.openxmlformats.org/drawingml/2006/main">
              <a:ext uri="{FF2B5EF4-FFF2-40B4-BE49-F238E27FC236}">
                <a16:creationId xmlns:a16="http://schemas.microsoft.com/office/drawing/2014/main" id="{4BA4187D-AF3D-40A4-9DB8-600CB235D64D}"/>
              </a:ext>
            </a:extLst>
          </p:cNvPr>
          <p:cNvSpPr>
            <a:spLocks xmlns:a="http://schemas.openxmlformats.org/drawingml/2006/main" noGrp="1"/>
          </p:cNvSpPr>
          <p:nvPr/>
        </p:nvSpPr>
        <p:spPr>
          <a:xfrm xmlns:a="http://schemas.openxmlformats.org/drawingml/2006/main">
            <a:off x="2600325" y="341947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263C3C"/>
                </a:solidFill>
                <a:latin typeface="Source Serif 4"/>
                <a:ea typeface="Source Serif 4"/>
                <a:cs typeface="Source Serif 4"/>
              </a:defRPr>
            </a:pPr>
            <a:r>
              <a:rPr sz="1725">
                <a:solidFill>
                  <a:srgbClr val="263C3C"/>
                </a:solidFill>
                <a:latin typeface="Source Serif 4"/>
                <a:ea typeface="Source Serif 4"/>
                <a:cs typeface="Source Serif 4"/>
              </a:rPr>
              <a:t>Typography, artwork and reading controls; translation drafts and Facebook presence.</a:t>
            </a:r>
          </a:p>
        </p:txBody>
      </p:sp>
      <p:sp>
        <p:nvSpPr>
          <p:cNvPr id="11" name="">
            <a:extLst xmlns:a="http://schemas.openxmlformats.org/drawingml/2006/main">
              <a:ext uri="{FF2B5EF4-FFF2-40B4-BE49-F238E27FC236}">
                <a16:creationId xmlns:a16="http://schemas.microsoft.com/office/drawing/2014/main" id="{E1371E08-455D-48DD-9CDE-CBD7992B77C0}"/>
              </a:ext>
            </a:extLst>
          </p:cNvPr>
          <p:cNvSpPr>
            <a:spLocks xmlns:a="http://schemas.openxmlformats.org/drawingml/2006/main" noGrp="1"/>
          </p:cNvSpPr>
          <p:nvPr/>
        </p:nvSpPr>
        <p:spPr>
          <a:xfrm xmlns:a="http://schemas.openxmlformats.org/drawingml/2006/main">
            <a:off x="666750" y="4038600"/>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01 OCT</a:t>
            </a:r>
          </a:p>
        </p:txBody>
      </p:sp>
      <p:sp>
        <p:nvSpPr>
          <p:cNvPr id="12" name="">
            <a:extLst xmlns:a="http://schemas.openxmlformats.org/drawingml/2006/main">
              <a:ext uri="{FF2B5EF4-FFF2-40B4-BE49-F238E27FC236}">
                <a16:creationId xmlns:a16="http://schemas.microsoft.com/office/drawing/2014/main" id="{CA7535DA-93B7-4DD9-AE19-374E1A6C6731}"/>
              </a:ext>
            </a:extLst>
          </p:cNvPr>
          <p:cNvSpPr>
            <a:spLocks xmlns:a="http://schemas.openxmlformats.org/drawingml/2006/main" noGrp="1"/>
          </p:cNvSpPr>
          <p:nvPr/>
        </p:nvSpPr>
        <p:spPr>
          <a:xfrm xmlns:a="http://schemas.openxmlformats.org/drawingml/2006/main">
            <a:off x="2600325" y="4038600"/>
            <a:ext cx="876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63C3C"/>
                </a:solidFill>
                <a:latin typeface="Cormorant Garamond"/>
                <a:ea typeface="Cormorant Garamond"/>
                <a:cs typeface="Cormorant Garamond"/>
              </a:defRPr>
            </a:pPr>
            <a:r>
              <a:rPr sz="2325">
                <a:solidFill>
                  <a:srgbClr val="263C3C"/>
                </a:solidFill>
                <a:latin typeface="Cormorant Garamond"/>
                <a:ea typeface="Cormorant Garamond"/>
                <a:cs typeface="Cormorant Garamond"/>
              </a:rPr>
              <a:t>Poet research and page review</a:t>
            </a:r>
          </a:p>
        </p:txBody>
      </p:sp>
      <p:sp>
        <p:nvSpPr>
          <p:cNvPr id="13" name="">
            <a:extLst xmlns:a="http://schemas.openxmlformats.org/drawingml/2006/main">
              <a:ext uri="{FF2B5EF4-FFF2-40B4-BE49-F238E27FC236}">
                <a16:creationId xmlns:a16="http://schemas.microsoft.com/office/drawing/2014/main" id="{CF4B729A-E976-4DAB-AE25-2C08EE23E5F9}"/>
              </a:ext>
            </a:extLst>
          </p:cNvPr>
          <p:cNvSpPr>
            <a:spLocks xmlns:a="http://schemas.openxmlformats.org/drawingml/2006/main" noGrp="1"/>
          </p:cNvSpPr>
          <p:nvPr/>
        </p:nvSpPr>
        <p:spPr>
          <a:xfrm xmlns:a="http://schemas.openxmlformats.org/drawingml/2006/main">
            <a:off x="2600325" y="444817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263C3C"/>
                </a:solidFill>
                <a:latin typeface="Source Serif 4"/>
                <a:ea typeface="Source Serif 4"/>
                <a:cs typeface="Source Serif 4"/>
              </a:defRPr>
            </a:pPr>
            <a:r>
              <a:rPr sz="1725">
                <a:solidFill>
                  <a:srgbClr val="263C3C"/>
                </a:solidFill>
                <a:latin typeface="Source Serif 4"/>
                <a:ea typeface="Source Serif 4"/>
                <a:cs typeface="Source Serif 4"/>
              </a:rPr>
              <a:t>All 427 enriched narratives applied; poem, profile and archive refinements.</a:t>
            </a:r>
          </a:p>
        </p:txBody>
      </p:sp>
      <p:sp>
        <p:nvSpPr>
          <p:cNvPr id="14" name="">
            <a:extLst xmlns:a="http://schemas.openxmlformats.org/drawingml/2006/main">
              <a:ext uri="{FF2B5EF4-FFF2-40B4-BE49-F238E27FC236}">
                <a16:creationId xmlns:a16="http://schemas.microsoft.com/office/drawing/2014/main" id="{4481629F-5D73-4A9A-8F00-8D7619AE868B}"/>
              </a:ext>
            </a:extLst>
          </p:cNvPr>
          <p:cNvSpPr>
            <a:spLocks xmlns:a="http://schemas.openxmlformats.org/drawingml/2006/main" noGrp="1"/>
          </p:cNvSpPr>
          <p:nvPr/>
        </p:nvSpPr>
        <p:spPr>
          <a:xfrm xmlns:a="http://schemas.openxmlformats.org/drawingml/2006/main">
            <a:off x="666750" y="5067300"/>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02 OCT</a:t>
            </a:r>
          </a:p>
        </p:txBody>
      </p:sp>
      <p:sp>
        <p:nvSpPr>
          <p:cNvPr id="15" name="">
            <a:extLst xmlns:a="http://schemas.openxmlformats.org/drawingml/2006/main">
              <a:ext uri="{FF2B5EF4-FFF2-40B4-BE49-F238E27FC236}">
                <a16:creationId xmlns:a16="http://schemas.microsoft.com/office/drawing/2014/main" id="{A93F920A-605F-4EFD-AAA8-2831F3AD9781}"/>
              </a:ext>
            </a:extLst>
          </p:cNvPr>
          <p:cNvSpPr>
            <a:spLocks xmlns:a="http://schemas.openxmlformats.org/drawingml/2006/main" noGrp="1"/>
          </p:cNvSpPr>
          <p:nvPr/>
        </p:nvSpPr>
        <p:spPr>
          <a:xfrm xmlns:a="http://schemas.openxmlformats.org/drawingml/2006/main">
            <a:off x="2600325" y="5067300"/>
            <a:ext cx="876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63C3C"/>
                </a:solidFill>
                <a:latin typeface="Cormorant Garamond"/>
                <a:ea typeface="Cormorant Garamond"/>
                <a:cs typeface="Cormorant Garamond"/>
              </a:defRPr>
            </a:pPr>
            <a:r>
              <a:rPr sz="2325">
                <a:solidFill>
                  <a:srgbClr val="263C3C"/>
                </a:solidFill>
                <a:latin typeface="Cormorant Garamond"/>
                <a:ea typeface="Cormorant Garamond"/>
                <a:cs typeface="Cormorant Garamond"/>
              </a:rPr>
              <a:t>Final refinements and hosted preview</a:t>
            </a:r>
          </a:p>
        </p:txBody>
      </p:sp>
      <p:sp>
        <p:nvSpPr>
          <p:cNvPr id="16" name="">
            <a:extLst xmlns:a="http://schemas.openxmlformats.org/drawingml/2006/main">
              <a:ext uri="{FF2B5EF4-FFF2-40B4-BE49-F238E27FC236}">
                <a16:creationId xmlns:a16="http://schemas.microsoft.com/office/drawing/2014/main" id="{1D976136-40BE-4946-B9B1-4E216D92EBF4}"/>
              </a:ext>
            </a:extLst>
          </p:cNvPr>
          <p:cNvSpPr>
            <a:spLocks xmlns:a="http://schemas.openxmlformats.org/drawingml/2006/main" noGrp="1"/>
          </p:cNvSpPr>
          <p:nvPr/>
        </p:nvSpPr>
        <p:spPr>
          <a:xfrm xmlns:a="http://schemas.openxmlformats.org/drawingml/2006/main">
            <a:off x="2600325" y="5476875"/>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263C3C"/>
                </a:solidFill>
                <a:latin typeface="Source Serif 4"/>
                <a:ea typeface="Source Serif 4"/>
                <a:cs typeface="Source Serif 4"/>
              </a:defRPr>
            </a:pPr>
            <a:r>
              <a:rPr sz="1725">
                <a:solidFill>
                  <a:srgbClr val="263C3C"/>
                </a:solidFill>
                <a:latin typeface="Source Serif 4"/>
                <a:ea typeface="Source Serif 4"/>
                <a:cs typeface="Source Serif 4"/>
              </a:rPr>
              <a:t>Reader and credit checks; writer audit; verified hosting and materials to share.</a:t>
            </a:r>
          </a:p>
        </p:txBody>
      </p:sp>
    </p:spTree>
    <p:extLst>
      <p:ext uri="{BB962C8B-B14F-4D97-AF65-F5344CB8AC3E}">
        <p14:creationId xmlns:p14="http://schemas.microsoft.com/office/powerpoint/2010/main" val="622989659"/>
      </p:ext>
    </p:extLst>
  </p:cSld>
</p:sld>
</file>

<file path=ppt/slides/slide3.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DEADCC-9F67-48A0-820A-B87F7204D841}"/>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An archive readers can explore</a:t>
            </a:r>
          </a:p>
        </p:txBody>
      </p:sp>
      <p:sp>
        <p:nvSpPr>
          <p:cNvPr id="2" name="">
            <a:extLst xmlns:a="http://schemas.openxmlformats.org/drawingml/2006/main">
              <a:ext uri="{FF2B5EF4-FFF2-40B4-BE49-F238E27FC236}">
                <a16:creationId xmlns:a16="http://schemas.microsoft.com/office/drawing/2014/main" id="{12DC7590-E249-4599-9121-6218E7ADE931}"/>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47A9F212-8EB6-4FC9-BCB8-2304C22F7B5A}"/>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03</a:t>
            </a:r>
          </a:p>
        </p:txBody>
      </p:sp>
      <p:sp>
        <p:nvSpPr>
          <p:cNvPr id="4" name="">
            <a:extLst xmlns:a="http://schemas.openxmlformats.org/drawingml/2006/main">
              <a:ext uri="{FF2B5EF4-FFF2-40B4-BE49-F238E27FC236}">
                <a16:creationId xmlns:a16="http://schemas.microsoft.com/office/drawing/2014/main" id="{1F11F199-227E-459F-BAF3-8A7D85A1A620}"/>
              </a:ext>
            </a:extLst>
          </p:cNvPr>
          <p:cNvSpPr>
            <a:spLocks xmlns:a="http://schemas.openxmlformats.org/drawingml/2006/main" noGrp="1"/>
          </p:cNvSpPr>
          <p:nvPr/>
        </p:nvSpPr>
        <p:spPr>
          <a:xfrm xmlns:a="http://schemas.openxmlformats.org/drawingml/2006/main">
            <a:off x="666750" y="1857375"/>
            <a:ext cx="2095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350">
                <a:solidFill>
                  <a:srgbClr val="963F28"/>
                </a:solidFill>
                <a:latin typeface="Cormorant Garamond"/>
                <a:ea typeface="Cormorant Garamond"/>
                <a:cs typeface="Cormorant Garamond"/>
              </a:defRPr>
            </a:pPr>
            <a:r>
              <a:rPr sz="7350">
                <a:solidFill>
                  <a:srgbClr val="963F28"/>
                </a:solidFill>
                <a:latin typeface="Cormorant Garamond"/>
                <a:ea typeface="Cormorant Garamond"/>
                <a:cs typeface="Cormorant Garamond"/>
              </a:rPr>
              <a:t>47</a:t>
            </a:r>
          </a:p>
        </p:txBody>
      </p:sp>
      <p:sp>
        <p:nvSpPr>
          <p:cNvPr id="5" name="">
            <a:extLst xmlns:a="http://schemas.openxmlformats.org/drawingml/2006/main">
              <a:ext uri="{FF2B5EF4-FFF2-40B4-BE49-F238E27FC236}">
                <a16:creationId xmlns:a16="http://schemas.microsoft.com/office/drawing/2014/main" id="{54011EB4-66FE-432F-8FD8-EF4BDFC4EA48}"/>
              </a:ext>
            </a:extLst>
          </p:cNvPr>
          <p:cNvSpPr>
            <a:spLocks xmlns:a="http://schemas.openxmlformats.org/drawingml/2006/main" noGrp="1"/>
          </p:cNvSpPr>
          <p:nvPr/>
        </p:nvSpPr>
        <p:spPr>
          <a:xfrm xmlns:a="http://schemas.openxmlformats.org/drawingml/2006/main">
            <a:off x="666750" y="31813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editions</a:t>
            </a:r>
          </a:p>
        </p:txBody>
      </p:sp>
      <p:sp>
        <p:nvSpPr>
          <p:cNvPr id="6" name="">
            <a:extLst xmlns:a="http://schemas.openxmlformats.org/drawingml/2006/main">
              <a:ext uri="{FF2B5EF4-FFF2-40B4-BE49-F238E27FC236}">
                <a16:creationId xmlns:a16="http://schemas.microsoft.com/office/drawing/2014/main" id="{AD8D9546-8C44-4382-B6CF-A75ECF9FC685}"/>
              </a:ext>
            </a:extLst>
          </p:cNvPr>
          <p:cNvSpPr>
            <a:spLocks xmlns:a="http://schemas.openxmlformats.org/drawingml/2006/main" noGrp="1"/>
          </p:cNvSpPr>
          <p:nvPr/>
        </p:nvSpPr>
        <p:spPr>
          <a:xfrm xmlns:a="http://schemas.openxmlformats.org/drawingml/2006/main">
            <a:off x="3000375" y="1857375"/>
            <a:ext cx="2190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350">
                <a:solidFill>
                  <a:srgbClr val="963F28"/>
                </a:solidFill>
                <a:latin typeface="Cormorant Garamond"/>
                <a:ea typeface="Cormorant Garamond"/>
                <a:cs typeface="Cormorant Garamond"/>
              </a:defRPr>
            </a:pPr>
            <a:r>
              <a:rPr sz="7350">
                <a:solidFill>
                  <a:srgbClr val="963F28"/>
                </a:solidFill>
                <a:latin typeface="Cormorant Garamond"/>
                <a:ea typeface="Cormorant Garamond"/>
                <a:cs typeface="Cormorant Garamond"/>
              </a:rPr>
              <a:t>799</a:t>
            </a:r>
          </a:p>
        </p:txBody>
      </p:sp>
      <p:sp>
        <p:nvSpPr>
          <p:cNvPr id="7" name="">
            <a:extLst xmlns:a="http://schemas.openxmlformats.org/drawingml/2006/main">
              <a:ext uri="{FF2B5EF4-FFF2-40B4-BE49-F238E27FC236}">
                <a16:creationId xmlns:a16="http://schemas.microsoft.com/office/drawing/2014/main" id="{ABDE4595-CA37-41D1-AC33-6E64D6AB0EA4}"/>
              </a:ext>
            </a:extLst>
          </p:cNvPr>
          <p:cNvSpPr>
            <a:spLocks xmlns:a="http://schemas.openxmlformats.org/drawingml/2006/main" noGrp="1"/>
          </p:cNvSpPr>
          <p:nvPr/>
        </p:nvSpPr>
        <p:spPr>
          <a:xfrm xmlns:a="http://schemas.openxmlformats.org/drawingml/2006/main">
            <a:off x="3000375" y="31813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active poems</a:t>
            </a:r>
          </a:p>
        </p:txBody>
      </p:sp>
      <p:sp>
        <p:nvSpPr>
          <p:cNvPr id="8" name="">
            <a:extLst xmlns:a="http://schemas.openxmlformats.org/drawingml/2006/main">
              <a:ext uri="{FF2B5EF4-FFF2-40B4-BE49-F238E27FC236}">
                <a16:creationId xmlns:a16="http://schemas.microsoft.com/office/drawing/2014/main" id="{556700CE-FA5C-4B49-97C3-E686980FF19D}"/>
              </a:ext>
            </a:extLst>
          </p:cNvPr>
          <p:cNvSpPr>
            <a:spLocks xmlns:a="http://schemas.openxmlformats.org/drawingml/2006/main" noGrp="1"/>
          </p:cNvSpPr>
          <p:nvPr/>
        </p:nvSpPr>
        <p:spPr>
          <a:xfrm xmlns:a="http://schemas.openxmlformats.org/drawingml/2006/main">
            <a:off x="666750" y="379095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Poems connect to their editions and contributors.</a:t>
            </a:r>
          </a:p>
        </p:txBody>
      </p:sp>
      <p:sp>
        <p:nvSpPr>
          <p:cNvPr id="9" name="">
            <a:extLst xmlns:a="http://schemas.openxmlformats.org/drawingml/2006/main">
              <a:ext uri="{FF2B5EF4-FFF2-40B4-BE49-F238E27FC236}">
                <a16:creationId xmlns:a16="http://schemas.microsoft.com/office/drawing/2014/main" id="{C3F0A800-D0CD-4604-853C-816EB0BD1588}"/>
              </a:ext>
            </a:extLst>
          </p:cNvPr>
          <p:cNvSpPr>
            <a:spLocks xmlns:a="http://schemas.openxmlformats.org/drawingml/2006/main" noGrp="1"/>
          </p:cNvSpPr>
          <p:nvPr/>
        </p:nvSpPr>
        <p:spPr>
          <a:xfrm xmlns:a="http://schemas.openxmlformats.org/drawingml/2006/main">
            <a:off x="666750" y="5048250"/>
            <a:ext cx="4191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Earlier writing has more ways to find a new reader.</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4d565b7dbc44559"/>
          <a:stretch xmlns:a="http://schemas.openxmlformats.org/drawingml/2006/main"/>
        </p:blipFill>
        <p:spPr>
          <a:xfrm xmlns:a="http://schemas.openxmlformats.org/drawingml/2006/main">
            <a:off x="5476875" y="1671489"/>
            <a:ext cx="6191250" cy="4353223"/>
          </a:xfrm>
          <a:prstGeom xmlns:a="http://schemas.openxmlformats.org/drawingml/2006/main" prst="rect">
            <a:avLst/>
          </a:prstGeom>
        </p:spPr>
      </p:pic>
    </p:spTree>
    <p:extLst>
      <p:ext uri="{BB962C8B-B14F-4D97-AF65-F5344CB8AC3E}">
        <p14:creationId xmlns:p14="http://schemas.microsoft.com/office/powerpoint/2010/main" val="1283317208"/>
      </p:ext>
    </p:extLst>
  </p:cSld>
</p:sld>
</file>

<file path=ppt/slides/slide4.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3C89FB0-1A33-44FD-BCD9-E05DFACA3BF5}"/>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 fuller presence for each poet</a:t>
            </a:r>
          </a:p>
        </p:txBody>
      </p:sp>
      <p:sp>
        <p:nvSpPr>
          <p:cNvPr id="2" name="">
            <a:extLst xmlns:a="http://schemas.openxmlformats.org/drawingml/2006/main">
              <a:ext uri="{FF2B5EF4-FFF2-40B4-BE49-F238E27FC236}">
                <a16:creationId xmlns:a16="http://schemas.microsoft.com/office/drawing/2014/main" id="{9E7C5D07-E830-49FF-8499-DA5590152E6A}"/>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CA52AE8B-7E93-4974-A771-715A63107B26}"/>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0e059be32474709"/>
          <a:stretch xmlns:a="http://schemas.openxmlformats.org/drawingml/2006/main"/>
        </p:blipFill>
        <p:spPr>
          <a:xfrm xmlns:a="http://schemas.openxmlformats.org/drawingml/2006/main">
            <a:off x="904875" y="1762125"/>
            <a:ext cx="3810000"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5BFFBDF-B706-45EE-B019-101277623D01}"/>
              </a:ext>
            </a:extLst>
          </p:cNvPr>
          <p:cNvSpPr>
            <a:spLocks xmlns:a="http://schemas.openxmlformats.org/drawingml/2006/main" noGrp="1"/>
          </p:cNvSpPr>
          <p:nvPr/>
        </p:nvSpPr>
        <p:spPr>
          <a:xfrm xmlns:a="http://schemas.openxmlformats.org/drawingml/2006/main">
            <a:off x="904875" y="582930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655F51"/>
                </a:solidFill>
                <a:latin typeface="Source Serif 4"/>
                <a:ea typeface="Source Serif 4"/>
                <a:cs typeface="Source Serif 4"/>
              </a:defRPr>
            </a:pPr>
            <a:r>
              <a:rPr sz="1725">
                <a:solidFill>
                  <a:srgbClr val="655F51"/>
                </a:solidFill>
                <a:latin typeface="Source Serif 4"/>
                <a:ea typeface="Source Serif 4"/>
                <a:cs typeface="Source Serif 4"/>
              </a:rPr>
              <a:t>Narmada Nilotpala</a:t>
            </a:r>
          </a:p>
        </p:txBody>
      </p:sp>
      <p:sp>
        <p:nvSpPr>
          <p:cNvPr id="6" name="">
            <a:extLst xmlns:a="http://schemas.openxmlformats.org/drawingml/2006/main">
              <a:ext uri="{FF2B5EF4-FFF2-40B4-BE49-F238E27FC236}">
                <a16:creationId xmlns:a16="http://schemas.microsoft.com/office/drawing/2014/main" id="{1E88F188-DB09-4536-854E-40E1A43C3398}"/>
              </a:ext>
            </a:extLst>
          </p:cNvPr>
          <p:cNvSpPr>
            <a:spLocks xmlns:a="http://schemas.openxmlformats.org/drawingml/2006/main" noGrp="1"/>
          </p:cNvSpPr>
          <p:nvPr/>
        </p:nvSpPr>
        <p:spPr>
          <a:xfrm xmlns:a="http://schemas.openxmlformats.org/drawingml/2006/main">
            <a:off x="6000750" y="1714500"/>
            <a:ext cx="5143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050">
                <a:solidFill>
                  <a:srgbClr val="963F28"/>
                </a:solidFill>
                <a:latin typeface="Cormorant Garamond"/>
                <a:ea typeface="Cormorant Garamond"/>
                <a:cs typeface="Cormorant Garamond"/>
              </a:defRPr>
            </a:pPr>
            <a:r>
              <a:rPr sz="7050">
                <a:solidFill>
                  <a:srgbClr val="963F28"/>
                </a:solidFill>
                <a:latin typeface="Cormorant Garamond"/>
                <a:ea typeface="Cormorant Garamond"/>
                <a:cs typeface="Cormorant Garamond"/>
              </a:rPr>
              <a:t>427</a:t>
            </a:r>
          </a:p>
        </p:txBody>
      </p:sp>
      <p:sp>
        <p:nvSpPr>
          <p:cNvPr id="7" name="">
            <a:extLst xmlns:a="http://schemas.openxmlformats.org/drawingml/2006/main">
              <a:ext uri="{FF2B5EF4-FFF2-40B4-BE49-F238E27FC236}">
                <a16:creationId xmlns:a16="http://schemas.microsoft.com/office/drawing/2014/main" id="{C5BC6FBB-2B1A-44A8-BE9E-F644E1969CB3}"/>
              </a:ext>
            </a:extLst>
          </p:cNvPr>
          <p:cNvSpPr>
            <a:spLocks xmlns:a="http://schemas.openxmlformats.org/drawingml/2006/main" noGrp="1"/>
          </p:cNvSpPr>
          <p:nvPr/>
        </p:nvSpPr>
        <p:spPr>
          <a:xfrm xmlns:a="http://schemas.openxmlformats.org/drawingml/2006/main">
            <a:off x="6000750" y="3000375"/>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a:solidFill>
                  <a:srgbClr val="263C3C"/>
                </a:solidFill>
                <a:latin typeface="Source Serif 4"/>
                <a:ea typeface="Source Serif 4"/>
                <a:cs typeface="Source Serif 4"/>
              </a:defRPr>
            </a:pPr>
            <a:r>
              <a:rPr sz="2250">
                <a:solidFill>
                  <a:srgbClr val="263C3C"/>
                </a:solidFill>
                <a:latin typeface="Source Serif 4"/>
                <a:ea typeface="Source Serif 4"/>
                <a:cs typeface="Source Serif 4"/>
              </a:rPr>
              <a:t>enriched poet narratives</a:t>
            </a:r>
          </a:p>
        </p:txBody>
      </p:sp>
      <p:sp>
        <p:nvSpPr>
          <p:cNvPr id="8" name="">
            <a:extLst xmlns:a="http://schemas.openxmlformats.org/drawingml/2006/main">
              <a:ext uri="{FF2B5EF4-FFF2-40B4-BE49-F238E27FC236}">
                <a16:creationId xmlns:a16="http://schemas.microsoft.com/office/drawing/2014/main" id="{396CDB98-8677-425F-AC33-6549179BA3FD}"/>
              </a:ext>
            </a:extLst>
          </p:cNvPr>
          <p:cNvSpPr>
            <a:spLocks xmlns:a="http://schemas.openxmlformats.org/drawingml/2006/main" noGrp="1"/>
          </p:cNvSpPr>
          <p:nvPr/>
        </p:nvSpPr>
        <p:spPr>
          <a:xfrm xmlns:a="http://schemas.openxmlformats.org/drawingml/2006/main">
            <a:off x="6000750" y="3695700"/>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Literary backgrounds and contribution histories give readers context.</a:t>
            </a:r>
          </a:p>
        </p:txBody>
      </p:sp>
      <p:sp>
        <p:nvSpPr>
          <p:cNvPr id="9" name="">
            <a:extLst xmlns:a="http://schemas.openxmlformats.org/drawingml/2006/main">
              <a:ext uri="{FF2B5EF4-FFF2-40B4-BE49-F238E27FC236}">
                <a16:creationId xmlns:a16="http://schemas.microsoft.com/office/drawing/2014/main" id="{C8BB2EC7-AAA4-4AE1-9A56-5E20CB12E1F2}"/>
              </a:ext>
            </a:extLst>
          </p:cNvPr>
          <p:cNvSpPr>
            <a:spLocks xmlns:a="http://schemas.openxmlformats.org/drawingml/2006/main" noGrp="1"/>
          </p:cNvSpPr>
          <p:nvPr/>
        </p:nvSpPr>
        <p:spPr>
          <a:xfrm xmlns:a="http://schemas.openxmlformats.org/drawingml/2006/main">
            <a:off x="6000750" y="5019675"/>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Careful identity checks and faithful quotations support that recognition.</a:t>
            </a:r>
          </a:p>
        </p:txBody>
      </p:sp>
    </p:spTree>
    <p:extLst>
      <p:ext uri="{BB962C8B-B14F-4D97-AF65-F5344CB8AC3E}">
        <p14:creationId xmlns:p14="http://schemas.microsoft.com/office/powerpoint/2010/main" val="1650764053"/>
      </p:ext>
    </p:extLst>
  </p:cSld>
</p:sld>
</file>

<file path=ppt/slides/slide5.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1716E2-141D-4D17-8B29-DBAB16BB2D64}"/>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More room for attention</a:t>
            </a:r>
          </a:p>
        </p:txBody>
      </p:sp>
      <p:sp>
        <p:nvSpPr>
          <p:cNvPr id="2" name="">
            <a:extLst xmlns:a="http://schemas.openxmlformats.org/drawingml/2006/main">
              <a:ext uri="{FF2B5EF4-FFF2-40B4-BE49-F238E27FC236}">
                <a16:creationId xmlns:a16="http://schemas.microsoft.com/office/drawing/2014/main" id="{3D5C84E3-56A2-40DF-9230-4256DCED42F7}"/>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60D665FD-8AF7-4FCB-87E3-9DBCEBAAD42A}"/>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05</a:t>
            </a:r>
          </a:p>
        </p:txBody>
      </p:sp>
      <p:sp>
        <p:nvSpPr>
          <p:cNvPr id="4" name="">
            <a:extLst xmlns:a="http://schemas.openxmlformats.org/drawingml/2006/main">
              <a:ext uri="{FF2B5EF4-FFF2-40B4-BE49-F238E27FC236}">
                <a16:creationId xmlns:a16="http://schemas.microsoft.com/office/drawing/2014/main" id="{389D0ED8-F634-41A7-A607-F4C27C32DDB8}"/>
              </a:ext>
            </a:extLst>
          </p:cNvPr>
          <p:cNvSpPr>
            <a:spLocks xmlns:a="http://schemas.openxmlformats.org/drawingml/2006/main" noGrp="1"/>
          </p:cNvSpPr>
          <p:nvPr/>
        </p:nvSpPr>
        <p:spPr>
          <a:xfrm xmlns:a="http://schemas.openxmlformats.org/drawingml/2006/main">
            <a:off x="666750" y="2028825"/>
            <a:ext cx="4048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63C3C"/>
                </a:solidFill>
                <a:latin typeface="Source Serif 4"/>
                <a:ea typeface="Source Serif 4"/>
                <a:cs typeface="Source Serif 4"/>
              </a:defRPr>
            </a:pPr>
            <a:r>
              <a:rPr sz="2325">
                <a:solidFill>
                  <a:srgbClr val="263C3C"/>
                </a:solidFill>
                <a:latin typeface="Source Serif 4"/>
                <a:ea typeface="Source Serif 4"/>
                <a:cs typeface="Source Serif 4"/>
              </a:rPr>
              <a:t>Quiet reading brings the poem into focus.</a:t>
            </a:r>
          </a:p>
        </p:txBody>
      </p:sp>
      <p:sp>
        <p:nvSpPr>
          <p:cNvPr id="5" name="">
            <a:extLst xmlns:a="http://schemas.openxmlformats.org/drawingml/2006/main">
              <a:ext uri="{FF2B5EF4-FFF2-40B4-BE49-F238E27FC236}">
                <a16:creationId xmlns:a16="http://schemas.microsoft.com/office/drawing/2014/main" id="{9A8340C0-EA1E-4411-BD09-2E0C8BA68DCE}"/>
              </a:ext>
            </a:extLst>
          </p:cNvPr>
          <p:cNvSpPr>
            <a:spLocks xmlns:a="http://schemas.openxmlformats.org/drawingml/2006/main" noGrp="1"/>
          </p:cNvSpPr>
          <p:nvPr/>
        </p:nvSpPr>
        <p:spPr>
          <a:xfrm xmlns:a="http://schemas.openxmlformats.org/drawingml/2006/main">
            <a:off x="666750" y="3390900"/>
            <a:ext cx="4048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Adjustable text and appearance support different reading preferences.</a:t>
            </a:r>
          </a:p>
        </p:txBody>
      </p:sp>
      <p:sp>
        <p:nvSpPr>
          <p:cNvPr id="6" name="">
            <a:extLst xmlns:a="http://schemas.openxmlformats.org/drawingml/2006/main">
              <a:ext uri="{FF2B5EF4-FFF2-40B4-BE49-F238E27FC236}">
                <a16:creationId xmlns:a16="http://schemas.microsoft.com/office/drawing/2014/main" id="{7B08B65D-1563-488F-8F9F-E66531D9B053}"/>
              </a:ext>
            </a:extLst>
          </p:cNvPr>
          <p:cNvSpPr>
            <a:spLocks xmlns:a="http://schemas.openxmlformats.org/drawingml/2006/main" noGrp="1"/>
          </p:cNvSpPr>
          <p:nvPr/>
        </p:nvSpPr>
        <p:spPr>
          <a:xfrm xmlns:a="http://schemas.openxmlformats.org/drawingml/2006/main">
            <a:off x="666750" y="4981575"/>
            <a:ext cx="4048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Search and bookmarks help readers discover and return.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abefdb1f3634b31"/>
          <a:stretch xmlns:a="http://schemas.openxmlformats.org/drawingml/2006/main"/>
        </p:blipFill>
        <p:spPr>
          <a:xfrm xmlns:a="http://schemas.openxmlformats.org/drawingml/2006/main">
            <a:off x="5096933" y="1724025"/>
            <a:ext cx="6570133" cy="4619625"/>
          </a:xfrm>
          <a:prstGeom xmlns:a="http://schemas.openxmlformats.org/drawingml/2006/main" prst="rect">
            <a:avLst/>
          </a:prstGeom>
        </p:spPr>
      </p:pic>
    </p:spTree>
    <p:extLst>
      <p:ext uri="{BB962C8B-B14F-4D97-AF65-F5344CB8AC3E}">
        <p14:creationId xmlns:p14="http://schemas.microsoft.com/office/powerpoint/2010/main" val="646216208"/>
      </p:ext>
    </p:extLst>
  </p:cSld>
</p:sld>
</file>

<file path=ppt/slides/slide6.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449A4E-D3AB-4BB2-A038-2A833717C929}"/>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 recognisable literary character</a:t>
            </a:r>
          </a:p>
        </p:txBody>
      </p:sp>
      <p:sp>
        <p:nvSpPr>
          <p:cNvPr id="2" name="">
            <a:extLst xmlns:a="http://schemas.openxmlformats.org/drawingml/2006/main">
              <a:ext uri="{FF2B5EF4-FFF2-40B4-BE49-F238E27FC236}">
                <a16:creationId xmlns:a16="http://schemas.microsoft.com/office/drawing/2014/main" id="{53E585E8-290B-484A-A4D3-75A20A6D5EF9}"/>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EDB10BC6-B1F8-41D2-9841-DE98BEB54005}"/>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4a16a1374e84103"/>
          <a:stretch xmlns:a="http://schemas.openxmlformats.org/drawingml/2006/main"/>
        </p:blipFill>
        <p:spPr>
          <a:xfrm xmlns:a="http://schemas.openxmlformats.org/drawingml/2006/main">
            <a:off x="865944" y="1638300"/>
            <a:ext cx="6211962" cy="47339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574C0F3-28B0-4E8F-8EFA-7E95E3DFCCDA}"/>
              </a:ext>
            </a:extLst>
          </p:cNvPr>
          <p:cNvSpPr>
            <a:spLocks xmlns:a="http://schemas.openxmlformats.org/drawingml/2006/main" noGrp="1"/>
          </p:cNvSpPr>
          <p:nvPr/>
        </p:nvSpPr>
        <p:spPr>
          <a:xfrm xmlns:a="http://schemas.openxmlformats.org/drawingml/2006/main">
            <a:off x="7810500" y="1914525"/>
            <a:ext cx="3714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a:solidFill>
                  <a:srgbClr val="963F28"/>
                </a:solidFill>
                <a:latin typeface="Cormorant Garamond"/>
                <a:ea typeface="Cormorant Garamond"/>
                <a:cs typeface="Cormorant Garamond"/>
              </a:defRPr>
            </a:pPr>
            <a:r>
              <a:rPr sz="2700">
                <a:solidFill>
                  <a:srgbClr val="963F28"/>
                </a:solidFill>
                <a:latin typeface="Cormorant Garamond"/>
                <a:ea typeface="Cormorant Garamond"/>
                <a:cs typeface="Cormorant Garamond"/>
              </a:rPr>
              <a:t>Rooted in Odisha</a:t>
            </a:r>
          </a:p>
        </p:txBody>
      </p:sp>
      <p:sp>
        <p:nvSpPr>
          <p:cNvPr id="6" name="">
            <a:extLst xmlns:a="http://schemas.openxmlformats.org/drawingml/2006/main">
              <a:ext uri="{FF2B5EF4-FFF2-40B4-BE49-F238E27FC236}">
                <a16:creationId xmlns:a16="http://schemas.microsoft.com/office/drawing/2014/main" id="{38DAF01D-0DC0-4093-89C9-746BB73A68AB}"/>
              </a:ext>
            </a:extLst>
          </p:cNvPr>
          <p:cNvSpPr>
            <a:spLocks xmlns:a="http://schemas.openxmlformats.org/drawingml/2006/main" noGrp="1"/>
          </p:cNvSpPr>
          <p:nvPr/>
        </p:nvSpPr>
        <p:spPr>
          <a:xfrm xmlns:a="http://schemas.openxmlformats.org/drawingml/2006/main">
            <a:off x="7810500" y="2552700"/>
            <a:ext cx="3714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Artwork, warm paper and deep ink give the journal a sense of place.</a:t>
            </a:r>
          </a:p>
        </p:txBody>
      </p:sp>
      <p:sp>
        <p:nvSpPr>
          <p:cNvPr id="7" name="">
            <a:extLst xmlns:a="http://schemas.openxmlformats.org/drawingml/2006/main">
              <a:ext uri="{FF2B5EF4-FFF2-40B4-BE49-F238E27FC236}">
                <a16:creationId xmlns:a16="http://schemas.microsoft.com/office/drawing/2014/main" id="{813F2138-47E8-4661-95E4-805323C72343}"/>
              </a:ext>
            </a:extLst>
          </p:cNvPr>
          <p:cNvSpPr>
            <a:spLocks xmlns:a="http://schemas.openxmlformats.org/drawingml/2006/main" noGrp="1"/>
          </p:cNvSpPr>
          <p:nvPr/>
        </p:nvSpPr>
        <p:spPr>
          <a:xfrm xmlns:a="http://schemas.openxmlformats.org/drawingml/2006/main">
            <a:off x="7810500" y="430530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a:solidFill>
                  <a:srgbClr val="963F28"/>
                </a:solidFill>
                <a:latin typeface="Cormorant Garamond"/>
                <a:ea typeface="Cormorant Garamond"/>
                <a:cs typeface="Cormorant Garamond"/>
              </a:defRPr>
            </a:pPr>
            <a:r>
              <a:rPr sz="2700">
                <a:solidFill>
                  <a:srgbClr val="963F28"/>
                </a:solidFill>
                <a:latin typeface="Cormorant Garamond"/>
                <a:ea typeface="Cormorant Garamond"/>
                <a:cs typeface="Cormorant Garamond"/>
              </a:rPr>
              <a:t>Open to three languages</a:t>
            </a:r>
          </a:p>
        </p:txBody>
      </p:sp>
      <p:sp>
        <p:nvSpPr>
          <p:cNvPr id="8" name="">
            <a:extLst xmlns:a="http://schemas.openxmlformats.org/drawingml/2006/main">
              <a:ext uri="{FF2B5EF4-FFF2-40B4-BE49-F238E27FC236}">
                <a16:creationId xmlns:a16="http://schemas.microsoft.com/office/drawing/2014/main" id="{8C205C21-6A45-414F-ADC2-3DBF8DF256D2}"/>
              </a:ext>
            </a:extLst>
          </p:cNvPr>
          <p:cNvSpPr>
            <a:spLocks xmlns:a="http://schemas.openxmlformats.org/drawingml/2006/main" noGrp="1"/>
          </p:cNvSpPr>
          <p:nvPr/>
        </p:nvSpPr>
        <p:spPr>
          <a:xfrm xmlns:a="http://schemas.openxmlformats.org/drawingml/2006/main">
            <a:off x="7810500" y="4991100"/>
            <a:ext cx="3714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Typography gives Odia, Hindi and English space to read comfortably.</a:t>
            </a:r>
          </a:p>
        </p:txBody>
      </p:sp>
    </p:spTree>
    <p:extLst>
      <p:ext uri="{BB962C8B-B14F-4D97-AF65-F5344CB8AC3E}">
        <p14:creationId xmlns:p14="http://schemas.microsoft.com/office/powerpoint/2010/main" val="2035468666"/>
      </p:ext>
    </p:extLst>
  </p:cSld>
</p:sld>
</file>

<file path=ppt/slides/slide7.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43E4DB-2B04-490D-B26B-DAB2207064BD}"/>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 shared foundation for editors</a:t>
            </a:r>
          </a:p>
        </p:txBody>
      </p:sp>
      <p:sp>
        <p:nvSpPr>
          <p:cNvPr id="2" name="">
            <a:extLst xmlns:a="http://schemas.openxmlformats.org/drawingml/2006/main">
              <a:ext uri="{FF2B5EF4-FFF2-40B4-BE49-F238E27FC236}">
                <a16:creationId xmlns:a16="http://schemas.microsoft.com/office/drawing/2014/main" id="{FB5482DF-3C4D-41A0-BD76-4B2F88658D87}"/>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2DAAA6AE-9D2C-47C9-979A-AA6A2E73B8F2}"/>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9f607167fa04cd6"/>
          <a:stretch xmlns:a="http://schemas.openxmlformats.org/drawingml/2006/main"/>
        </p:blipFill>
        <p:spPr>
          <a:xfrm xmlns:a="http://schemas.openxmlformats.org/drawingml/2006/main">
            <a:off x="523875" y="2155825"/>
            <a:ext cx="5048250" cy="3365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A90D08-AE23-481F-92D3-9B9913231CCC}"/>
              </a:ext>
            </a:extLst>
          </p:cNvPr>
          <p:cNvSpPr>
            <a:spLocks xmlns:a="http://schemas.openxmlformats.org/drawingml/2006/main" noGrp="1"/>
          </p:cNvSpPr>
          <p:nvPr/>
        </p:nvSpPr>
        <p:spPr>
          <a:xfrm xmlns:a="http://schemas.openxmlformats.org/drawingml/2006/main">
            <a:off x="6191250" y="182880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Less reinvention</a:t>
            </a:r>
          </a:p>
        </p:txBody>
      </p:sp>
      <p:sp>
        <p:nvSpPr>
          <p:cNvPr id="6" name="">
            <a:extLst xmlns:a="http://schemas.openxmlformats.org/drawingml/2006/main">
              <a:ext uri="{FF2B5EF4-FFF2-40B4-BE49-F238E27FC236}">
                <a16:creationId xmlns:a16="http://schemas.microsoft.com/office/drawing/2014/main" id="{0572E368-CEE9-468F-8061-B55708F4B876}"/>
              </a:ext>
            </a:extLst>
          </p:cNvPr>
          <p:cNvSpPr>
            <a:spLocks xmlns:a="http://schemas.openxmlformats.org/drawingml/2006/main" noGrp="1"/>
          </p:cNvSpPr>
          <p:nvPr/>
        </p:nvSpPr>
        <p:spPr>
          <a:xfrm xmlns:a="http://schemas.openxmlformats.org/drawingml/2006/main">
            <a:off x="6191250" y="2343150"/>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Reusable layouts and editor guidance give routine decisions a common reference.</a:t>
            </a:r>
          </a:p>
        </p:txBody>
      </p:sp>
      <p:sp>
        <p:nvSpPr>
          <p:cNvPr id="7" name="">
            <a:extLst xmlns:a="http://schemas.openxmlformats.org/drawingml/2006/main">
              <a:ext uri="{FF2B5EF4-FFF2-40B4-BE49-F238E27FC236}">
                <a16:creationId xmlns:a16="http://schemas.microsoft.com/office/drawing/2014/main" id="{C6385E51-A29E-46D3-A284-22D1A3F87419}"/>
              </a:ext>
            </a:extLst>
          </p:cNvPr>
          <p:cNvSpPr>
            <a:spLocks xmlns:a="http://schemas.openxmlformats.org/drawingml/2006/main" noGrp="1"/>
          </p:cNvSpPr>
          <p:nvPr/>
        </p:nvSpPr>
        <p:spPr>
          <a:xfrm xmlns:a="http://schemas.openxmlformats.org/drawingml/2006/main">
            <a:off x="6191250" y="330517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Continuity</a:t>
            </a:r>
          </a:p>
        </p:txBody>
      </p:sp>
      <p:sp>
        <p:nvSpPr>
          <p:cNvPr id="8" name="">
            <a:extLst xmlns:a="http://schemas.openxmlformats.org/drawingml/2006/main">
              <a:ext uri="{FF2B5EF4-FFF2-40B4-BE49-F238E27FC236}">
                <a16:creationId xmlns:a16="http://schemas.microsoft.com/office/drawing/2014/main" id="{52E34B67-FFCB-435E-B6B4-77709B6CF51B}"/>
              </a:ext>
            </a:extLst>
          </p:cNvPr>
          <p:cNvSpPr>
            <a:spLocks xmlns:a="http://schemas.openxmlformats.org/drawingml/2006/main" noGrp="1"/>
          </p:cNvSpPr>
          <p:nvPr/>
        </p:nvSpPr>
        <p:spPr>
          <a:xfrm xmlns:a="http://schemas.openxmlformats.org/drawingml/2006/main">
            <a:off x="6191250" y="3819525"/>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Preserved originals and research help future changes respect the magazine’s history.</a:t>
            </a:r>
          </a:p>
        </p:txBody>
      </p:sp>
      <p:sp>
        <p:nvSpPr>
          <p:cNvPr id="9" name="">
            <a:extLst xmlns:a="http://schemas.openxmlformats.org/drawingml/2006/main">
              <a:ext uri="{FF2B5EF4-FFF2-40B4-BE49-F238E27FC236}">
                <a16:creationId xmlns:a16="http://schemas.microsoft.com/office/drawing/2014/main" id="{D6B0A44E-8D06-4FB6-A252-12368E1BDCF7}"/>
              </a:ext>
            </a:extLst>
          </p:cNvPr>
          <p:cNvSpPr>
            <a:spLocks xmlns:a="http://schemas.openxmlformats.org/drawingml/2006/main" noGrp="1"/>
          </p:cNvSpPr>
          <p:nvPr/>
        </p:nvSpPr>
        <p:spPr>
          <a:xfrm xmlns:a="http://schemas.openxmlformats.org/drawingml/2006/main">
            <a:off x="6191250" y="478155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a:solidFill>
                  <a:srgbClr val="963F28"/>
                </a:solidFill>
                <a:latin typeface="Cormorant Garamond"/>
                <a:ea typeface="Cormorant Garamond"/>
                <a:cs typeface="Cormorant Garamond"/>
              </a:defRPr>
            </a:pPr>
            <a:r>
              <a:rPr sz="2475">
                <a:solidFill>
                  <a:srgbClr val="963F28"/>
                </a:solidFill>
                <a:latin typeface="Cormorant Garamond"/>
                <a:ea typeface="Cormorant Garamond"/>
                <a:cs typeface="Cormorant Garamond"/>
              </a:rPr>
              <a:t>More room for editorial ideas</a:t>
            </a:r>
          </a:p>
        </p:txBody>
      </p:sp>
      <p:sp>
        <p:nvSpPr>
          <p:cNvPr id="10" name="">
            <a:extLst xmlns:a="http://schemas.openxmlformats.org/drawingml/2006/main">
              <a:ext uri="{FF2B5EF4-FFF2-40B4-BE49-F238E27FC236}">
                <a16:creationId xmlns:a16="http://schemas.microsoft.com/office/drawing/2014/main" id="{688DDC10-4EB8-495A-8B84-84AD09944B30}"/>
              </a:ext>
            </a:extLst>
          </p:cNvPr>
          <p:cNvSpPr>
            <a:spLocks xmlns:a="http://schemas.openxmlformats.org/drawingml/2006/main" noGrp="1"/>
          </p:cNvSpPr>
          <p:nvPr/>
        </p:nvSpPr>
        <p:spPr>
          <a:xfrm xmlns:a="http://schemas.openxmlformats.org/drawingml/2006/main">
            <a:off x="6191250" y="5295900"/>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63C3C"/>
                </a:solidFill>
                <a:latin typeface="Source Serif 4"/>
                <a:ea typeface="Source Serif 4"/>
                <a:cs typeface="Source Serif 4"/>
              </a:defRPr>
            </a:pPr>
            <a:r>
              <a:rPr sz="1875">
                <a:solidFill>
                  <a:srgbClr val="263C3C"/>
                </a:solidFill>
                <a:latin typeface="Source Serif 4"/>
                <a:ea typeface="Source Serif 4"/>
                <a:cs typeface="Source Serif 4"/>
              </a:rPr>
              <a:t>That foundation supports attention to poems, contributors and the shape of an edition.</a:t>
            </a:r>
          </a:p>
        </p:txBody>
      </p:sp>
    </p:spTree>
    <p:extLst>
      <p:ext uri="{BB962C8B-B14F-4D97-AF65-F5344CB8AC3E}">
        <p14:creationId xmlns:p14="http://schemas.microsoft.com/office/powerpoint/2010/main" val="148874158"/>
      </p:ext>
    </p:extLst>
  </p:cSld>
</p:sld>
</file>

<file path=ppt/slides/slide8.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A76FB44-0167-4EB3-9389-ABA821767492}"/>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Creative possibilities for the magazine</a:t>
            </a:r>
          </a:p>
        </p:txBody>
      </p:sp>
      <p:sp>
        <p:nvSpPr>
          <p:cNvPr id="2" name="">
            <a:extLst xmlns:a="http://schemas.openxmlformats.org/drawingml/2006/main">
              <a:ext uri="{FF2B5EF4-FFF2-40B4-BE49-F238E27FC236}">
                <a16:creationId xmlns:a16="http://schemas.microsoft.com/office/drawing/2014/main" id="{14CBFD81-93C1-4509-9808-A5FDCD7CEE03}"/>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074A33A7-0F67-4188-95A3-3E4A19E2C61C}"/>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08</a:t>
            </a:r>
          </a:p>
        </p:txBody>
      </p:sp>
      <p:sp>
        <p:nvSpPr>
          <p:cNvPr id="4" name="">
            <a:extLst xmlns:a="http://schemas.openxmlformats.org/drawingml/2006/main">
              <a:ext uri="{FF2B5EF4-FFF2-40B4-BE49-F238E27FC236}">
                <a16:creationId xmlns:a16="http://schemas.microsoft.com/office/drawing/2014/main" id="{8DECC50F-31D8-4ABF-BB3A-1D8BC2705D04}"/>
              </a:ext>
            </a:extLst>
          </p:cNvPr>
          <p:cNvSpPr>
            <a:spLocks xmlns:a="http://schemas.openxmlformats.org/drawingml/2006/main" noGrp="1"/>
          </p:cNvSpPr>
          <p:nvPr/>
        </p:nvSpPr>
        <p:spPr>
          <a:xfrm xmlns:a="http://schemas.openxmlformats.org/drawingml/2006/main">
            <a:off x="666750" y="20478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a:solidFill>
                  <a:srgbClr val="963F28"/>
                </a:solidFill>
                <a:latin typeface="Cormorant Garamond"/>
                <a:ea typeface="Cormorant Garamond"/>
                <a:cs typeface="Cormorant Garamond"/>
              </a:defRPr>
            </a:pPr>
            <a:r>
              <a:rPr sz="2625">
                <a:solidFill>
                  <a:srgbClr val="963F28"/>
                </a:solidFill>
                <a:latin typeface="Cormorant Garamond"/>
                <a:ea typeface="Cormorant Garamond"/>
                <a:cs typeface="Cormorant Garamond"/>
              </a:rPr>
              <a:t>Curated conversations</a:t>
            </a:r>
          </a:p>
        </p:txBody>
      </p:sp>
      <p:sp>
        <p:nvSpPr>
          <p:cNvPr id="5" name="">
            <a:extLst xmlns:a="http://schemas.openxmlformats.org/drawingml/2006/main">
              <a:ext uri="{FF2B5EF4-FFF2-40B4-BE49-F238E27FC236}">
                <a16:creationId xmlns:a16="http://schemas.microsoft.com/office/drawing/2014/main" id="{E2A787D1-77C4-42AD-B64B-0C18BCA89303}"/>
              </a:ext>
            </a:extLst>
          </p:cNvPr>
          <p:cNvSpPr>
            <a:spLocks xmlns:a="http://schemas.openxmlformats.org/drawingml/2006/main" noGrp="1"/>
          </p:cNvSpPr>
          <p:nvPr/>
        </p:nvSpPr>
        <p:spPr>
          <a:xfrm xmlns:a="http://schemas.openxmlformats.org/drawingml/2006/main">
            <a:off x="666750" y="278130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Bring poems across editions and languages together around a theme.</a:t>
            </a:r>
          </a:p>
        </p:txBody>
      </p:sp>
      <p:sp>
        <p:nvSpPr>
          <p:cNvPr id="6" name="">
            <a:extLst xmlns:a="http://schemas.openxmlformats.org/drawingml/2006/main">
              <a:ext uri="{FF2B5EF4-FFF2-40B4-BE49-F238E27FC236}">
                <a16:creationId xmlns:a16="http://schemas.microsoft.com/office/drawing/2014/main" id="{B9935059-AD30-40A0-8C77-02F1E3BB4594}"/>
              </a:ext>
            </a:extLst>
          </p:cNvPr>
          <p:cNvSpPr>
            <a:spLocks xmlns:a="http://schemas.openxmlformats.org/drawingml/2006/main" noGrp="1"/>
          </p:cNvSpPr>
          <p:nvPr/>
        </p:nvSpPr>
        <p:spPr>
          <a:xfrm xmlns:a="http://schemas.openxmlformats.org/drawingml/2006/main">
            <a:off x="6477000" y="20478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a:solidFill>
                  <a:srgbClr val="963F28"/>
                </a:solidFill>
                <a:latin typeface="Cormorant Garamond"/>
                <a:ea typeface="Cormorant Garamond"/>
                <a:cs typeface="Cormorant Garamond"/>
              </a:defRPr>
            </a:pPr>
            <a:r>
              <a:rPr sz="2625">
                <a:solidFill>
                  <a:srgbClr val="963F28"/>
                </a:solidFill>
                <a:latin typeface="Cormorant Garamond"/>
                <a:ea typeface="Cormorant Garamond"/>
                <a:cs typeface="Cormorant Garamond"/>
              </a:rPr>
              <a:t>The poet behind the poem</a:t>
            </a:r>
          </a:p>
        </p:txBody>
      </p:sp>
      <p:sp>
        <p:nvSpPr>
          <p:cNvPr id="7" name="">
            <a:extLst xmlns:a="http://schemas.openxmlformats.org/drawingml/2006/main">
              <a:ext uri="{FF2B5EF4-FFF2-40B4-BE49-F238E27FC236}">
                <a16:creationId xmlns:a16="http://schemas.microsoft.com/office/drawing/2014/main" id="{91DEF7C5-EC47-43F7-A321-CF9797886CF6}"/>
              </a:ext>
            </a:extLst>
          </p:cNvPr>
          <p:cNvSpPr>
            <a:spLocks xmlns:a="http://schemas.openxmlformats.org/drawingml/2006/main" noGrp="1"/>
          </p:cNvSpPr>
          <p:nvPr/>
        </p:nvSpPr>
        <p:spPr>
          <a:xfrm xmlns:a="http://schemas.openxmlformats.org/drawingml/2006/main">
            <a:off x="6477000" y="278130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Invite a short reflection on a poem’s beginning or a creative choice.</a:t>
            </a:r>
          </a:p>
        </p:txBody>
      </p:sp>
      <p:sp>
        <p:nvSpPr>
          <p:cNvPr id="8" name="">
            <a:extLst xmlns:a="http://schemas.openxmlformats.org/drawingml/2006/main">
              <a:ext uri="{FF2B5EF4-FFF2-40B4-BE49-F238E27FC236}">
                <a16:creationId xmlns:a16="http://schemas.microsoft.com/office/drawing/2014/main" id="{B248FAC5-0B1D-4B97-8C41-A01E5DEB4908}"/>
              </a:ext>
            </a:extLst>
          </p:cNvPr>
          <p:cNvSpPr>
            <a:spLocks xmlns:a="http://schemas.openxmlformats.org/drawingml/2006/main" noGrp="1"/>
          </p:cNvSpPr>
          <p:nvPr/>
        </p:nvSpPr>
        <p:spPr>
          <a:xfrm xmlns:a="http://schemas.openxmlformats.org/drawingml/2006/main">
            <a:off x="666750" y="4238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a:solidFill>
                  <a:srgbClr val="963F28"/>
                </a:solidFill>
                <a:latin typeface="Cormorant Garamond"/>
                <a:ea typeface="Cormorant Garamond"/>
                <a:cs typeface="Cormorant Garamond"/>
              </a:defRPr>
            </a:pPr>
            <a:r>
              <a:rPr sz="2625">
                <a:solidFill>
                  <a:srgbClr val="963F28"/>
                </a:solidFill>
                <a:latin typeface="Cormorant Garamond"/>
                <a:ea typeface="Cormorant Garamond"/>
                <a:cs typeface="Cormorant Garamond"/>
              </a:rPr>
              <a:t>Collaboration across forms</a:t>
            </a:r>
          </a:p>
        </p:txBody>
      </p:sp>
      <p:sp>
        <p:nvSpPr>
          <p:cNvPr id="9" name="">
            <a:extLst xmlns:a="http://schemas.openxmlformats.org/drawingml/2006/main">
              <a:ext uri="{FF2B5EF4-FFF2-40B4-BE49-F238E27FC236}">
                <a16:creationId xmlns:a16="http://schemas.microsoft.com/office/drawing/2014/main" id="{65DF2F9E-66E5-4DA4-9566-E8E2A9E64EA0}"/>
              </a:ext>
            </a:extLst>
          </p:cNvPr>
          <p:cNvSpPr>
            <a:spLocks xmlns:a="http://schemas.openxmlformats.org/drawingml/2006/main" noGrp="1"/>
          </p:cNvSpPr>
          <p:nvPr/>
        </p:nvSpPr>
        <p:spPr>
          <a:xfrm xmlns:a="http://schemas.openxmlformats.org/drawingml/2006/main">
            <a:off x="666750" y="497205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Explore reviewed translations, commissioned art or carefully produced readings.</a:t>
            </a:r>
          </a:p>
        </p:txBody>
      </p:sp>
      <p:sp>
        <p:nvSpPr>
          <p:cNvPr id="10" name="">
            <a:extLst xmlns:a="http://schemas.openxmlformats.org/drawingml/2006/main">
              <a:ext uri="{FF2B5EF4-FFF2-40B4-BE49-F238E27FC236}">
                <a16:creationId xmlns:a16="http://schemas.microsoft.com/office/drawing/2014/main" id="{C02FA7E9-6D5B-455F-8E30-3D9DC9B14EFC}"/>
              </a:ext>
            </a:extLst>
          </p:cNvPr>
          <p:cNvSpPr>
            <a:spLocks xmlns:a="http://schemas.openxmlformats.org/drawingml/2006/main" noGrp="1"/>
          </p:cNvSpPr>
          <p:nvPr/>
        </p:nvSpPr>
        <p:spPr>
          <a:xfrm xmlns:a="http://schemas.openxmlformats.org/drawingml/2006/main">
            <a:off x="6477000" y="4238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a:solidFill>
                  <a:srgbClr val="963F28"/>
                </a:solidFill>
                <a:latin typeface="Cormorant Garamond"/>
                <a:ea typeface="Cormorant Garamond"/>
                <a:cs typeface="Cormorant Garamond"/>
              </a:defRPr>
            </a:pPr>
            <a:r>
              <a:rPr sz="2625">
                <a:solidFill>
                  <a:srgbClr val="963F28"/>
                </a:solidFill>
                <a:latin typeface="Cormorant Garamond"/>
                <a:ea typeface="Cormorant Garamond"/>
                <a:cs typeface="Cormorant Garamond"/>
              </a:rPr>
              <a:t>Thoughtful reader participation</a:t>
            </a:r>
          </a:p>
        </p:txBody>
      </p:sp>
      <p:sp>
        <p:nvSpPr>
          <p:cNvPr id="11" name="">
            <a:extLst xmlns:a="http://schemas.openxmlformats.org/drawingml/2006/main">
              <a:ext uri="{FF2B5EF4-FFF2-40B4-BE49-F238E27FC236}">
                <a16:creationId xmlns:a16="http://schemas.microsoft.com/office/drawing/2014/main" id="{AB4D756C-687E-4344-AC0B-88AD1EE6E3B7}"/>
              </a:ext>
            </a:extLst>
          </p:cNvPr>
          <p:cNvSpPr>
            <a:spLocks xmlns:a="http://schemas.openxmlformats.org/drawingml/2006/main" noGrp="1"/>
          </p:cNvSpPr>
          <p:nvPr/>
        </p:nvSpPr>
        <p:spPr>
          <a:xfrm xmlns:a="http://schemas.openxmlformats.org/drawingml/2006/main">
            <a:off x="6477000" y="497205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Let private feedback reveal questions and interests worth exploring.</a:t>
            </a:r>
          </a:p>
        </p:txBody>
      </p:sp>
    </p:spTree>
    <p:extLst>
      <p:ext uri="{BB962C8B-B14F-4D97-AF65-F5344CB8AC3E}">
        <p14:creationId xmlns:p14="http://schemas.microsoft.com/office/powerpoint/2010/main" val="1691747625"/>
      </p:ext>
    </p:extLst>
  </p:cSld>
</p:sld>
</file>

<file path=ppt/slides/slide9.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FB517A-8A5C-4328-9B48-48DBEFA8A4FB}"/>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One possibility: a collection on rain</a:t>
            </a:r>
          </a:p>
        </p:txBody>
      </p:sp>
      <p:sp>
        <p:nvSpPr>
          <p:cNvPr id="2" name="">
            <a:extLst xmlns:a="http://schemas.openxmlformats.org/drawingml/2006/main">
              <a:ext uri="{FF2B5EF4-FFF2-40B4-BE49-F238E27FC236}">
                <a16:creationId xmlns:a16="http://schemas.microsoft.com/office/drawing/2014/main" id="{34B97FCA-7DE6-4290-ABE9-7B45B313DD29}"/>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3FBDD6AB-EC0C-4783-9AF3-5C94A819A278}"/>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09</a:t>
            </a:r>
          </a:p>
        </p:txBody>
      </p:sp>
      <p:sp>
        <p:nvSpPr>
          <p:cNvPr id="4" name="">
            <a:extLst xmlns:a="http://schemas.openxmlformats.org/drawingml/2006/main">
              <a:ext uri="{FF2B5EF4-FFF2-40B4-BE49-F238E27FC236}">
                <a16:creationId xmlns:a16="http://schemas.microsoft.com/office/drawing/2014/main" id="{BCB4777C-BCFC-43C7-84D8-080939AB93C1}"/>
              </a:ext>
            </a:extLst>
          </p:cNvPr>
          <p:cNvSpPr>
            <a:spLocks xmlns:a="http://schemas.openxmlformats.org/drawingml/2006/main" noGrp="1"/>
          </p:cNvSpPr>
          <p:nvPr/>
        </p:nvSpPr>
        <p:spPr>
          <a:xfrm xmlns:a="http://schemas.openxmlformats.org/drawingml/2006/main">
            <a:off x="666750" y="1752600"/>
            <a:ext cx="4762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63C3C"/>
                </a:solidFill>
                <a:latin typeface="Source Serif 4"/>
                <a:ea typeface="Source Serif 4"/>
                <a:cs typeface="Source Serif 4"/>
              </a:defRPr>
            </a:pPr>
            <a:r>
              <a:rPr sz="2325">
                <a:solidFill>
                  <a:srgbClr val="263C3C"/>
                </a:solidFill>
                <a:latin typeface="Source Serif 4"/>
                <a:ea typeface="Source Serif 4"/>
                <a:cs typeface="Source Serif 4"/>
              </a:rPr>
              <a:t>A theme can make new connections within the existing archive.</a:t>
            </a:r>
          </a:p>
        </p:txBody>
      </p:sp>
      <p:sp>
        <p:nvSpPr>
          <p:cNvPr id="5" name="">
            <a:extLst xmlns:a="http://schemas.openxmlformats.org/drawingml/2006/main">
              <a:ext uri="{FF2B5EF4-FFF2-40B4-BE49-F238E27FC236}">
                <a16:creationId xmlns:a16="http://schemas.microsoft.com/office/drawing/2014/main" id="{CC524B85-69E9-4E44-93B5-0987D584A547}"/>
              </a:ext>
            </a:extLst>
          </p:cNvPr>
          <p:cNvSpPr>
            <a:spLocks xmlns:a="http://schemas.openxmlformats.org/drawingml/2006/main" noGrp="1"/>
          </p:cNvSpPr>
          <p:nvPr/>
        </p:nvSpPr>
        <p:spPr>
          <a:xfrm xmlns:a="http://schemas.openxmlformats.org/drawingml/2006/main">
            <a:off x="666750" y="3114675"/>
            <a:ext cx="47625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a:solidFill>
                  <a:srgbClr val="263C3C"/>
                </a:solidFill>
                <a:latin typeface="Source Serif 4"/>
                <a:ea typeface="Source Serif 4"/>
                <a:cs typeface="Source Serif 4"/>
              </a:defRPr>
            </a:pPr>
            <a:r>
              <a:rPr sz="2025">
                <a:solidFill>
                  <a:srgbClr val="263C3C"/>
                </a:solidFill>
                <a:latin typeface="Source Serif 4"/>
                <a:ea typeface="Source Serif 4"/>
                <a:cs typeface="Source Serif 4"/>
              </a:rPr>
              <a:t>An editor could select poems from different issues, introduce their shared theme and invite a poet to reflect on one work.</a:t>
            </a:r>
          </a:p>
        </p:txBody>
      </p:sp>
      <p:sp>
        <p:nvSpPr>
          <p:cNvPr id="6" name="">
            <a:extLst xmlns:a="http://schemas.openxmlformats.org/drawingml/2006/main">
              <a:ext uri="{FF2B5EF4-FFF2-40B4-BE49-F238E27FC236}">
                <a16:creationId xmlns:a16="http://schemas.microsoft.com/office/drawing/2014/main" id="{6DF087C8-2CD8-4A82-8282-F3D876A55394}"/>
              </a:ext>
            </a:extLst>
          </p:cNvPr>
          <p:cNvSpPr>
            <a:spLocks xmlns:a="http://schemas.openxmlformats.org/drawingml/2006/main" noGrp="1"/>
          </p:cNvSpPr>
          <p:nvPr/>
        </p:nvSpPr>
        <p:spPr>
          <a:xfrm xmlns:a="http://schemas.openxmlformats.org/drawingml/2006/main">
            <a:off x="666750" y="5334000"/>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963F28"/>
                </a:solidFill>
                <a:latin typeface="Cormorant Garamond"/>
                <a:ea typeface="Cormorant Garamond"/>
                <a:cs typeface="Cormorant Garamond"/>
              </a:defRPr>
            </a:pPr>
            <a:r>
              <a:rPr sz="2100">
                <a:solidFill>
                  <a:srgbClr val="963F28"/>
                </a:solidFill>
                <a:latin typeface="Cormorant Garamond"/>
                <a:ea typeface="Cormorant Garamond"/>
                <a:cs typeface="Cormorant Garamond"/>
              </a:rPr>
              <a:t>A new way to encounter poems readers may have missed.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f41bde697c7423b"/>
          <a:stretch xmlns:a="http://schemas.openxmlformats.org/drawingml/2006/main"/>
        </p:blipFill>
        <p:spPr>
          <a:xfrm xmlns:a="http://schemas.openxmlformats.org/drawingml/2006/main">
            <a:off x="5857875" y="1776413"/>
            <a:ext cx="5715000" cy="3810000"/>
          </a:xfrm>
          <a:prstGeom xmlns:a="http://schemas.openxmlformats.org/drawingml/2006/main" prst="rect">
            <a:avLst/>
          </a:prstGeom>
        </p:spPr>
      </p:pic>
    </p:spTree>
    <p:extLst>
      <p:ext uri="{BB962C8B-B14F-4D97-AF65-F5344CB8AC3E}">
        <p14:creationId xmlns:p14="http://schemas.microsoft.com/office/powerpoint/2010/main" val="1546231391"/>
      </p:ext>
    </p:extLst>
  </p:cSld>
</p:sld>
</file>

<file path=ppt/slides/slide10.xml><?xml version="1.0" encoding="utf-8"?>
<p:sld xmlns:p="http://schemas.openxmlformats.org/presentationml/2006/main">
  <p:cSld>
    <p:bg>
      <p:bgPr>
        <a:solidFill xmlns:a="http://schemas.openxmlformats.org/drawingml/2006/main">
          <a:srgbClr val="F5EFD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578420-5221-45BF-B0E1-5865A669002B}"/>
              </a:ext>
            </a:extLst>
          </p:cNvPr>
          <p:cNvSpPr>
            <a:spLocks xmlns:a="http://schemas.openxmlformats.org/drawingml/2006/main" noGrp="1"/>
          </p:cNvSpPr>
          <p:nvPr/>
        </p:nvSpPr>
        <p:spPr>
          <a:xfrm xmlns:a="http://schemas.openxmlformats.org/drawingml/2006/main">
            <a:off x="66675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a:solidFill>
                  <a:srgbClr val="263C3C"/>
                </a:solidFill>
                <a:latin typeface="Cormorant Garamond"/>
                <a:ea typeface="Cormorant Garamond"/>
                <a:cs typeface="Cormorant Garamond"/>
              </a:defRPr>
            </a:pPr>
            <a:r>
              <a:rPr sz="3975">
                <a:solidFill>
                  <a:srgbClr val="263C3C"/>
                </a:solidFill>
                <a:latin typeface="Cormorant Garamond"/>
                <a:ea typeface="Cormorant Garamond"/>
                <a:cs typeface="Cormorant Garamond"/>
              </a:rPr>
              <a:t>A literary home to grow together</a:t>
            </a:r>
          </a:p>
        </p:txBody>
      </p:sp>
      <p:sp>
        <p:nvSpPr>
          <p:cNvPr id="2" name="">
            <a:extLst xmlns:a="http://schemas.openxmlformats.org/drawingml/2006/main">
              <a:ext uri="{FF2B5EF4-FFF2-40B4-BE49-F238E27FC236}">
                <a16:creationId xmlns:a16="http://schemas.microsoft.com/office/drawing/2014/main" id="{86ED9E38-E116-4461-9BF8-E65025A554AE}"/>
              </a:ext>
            </a:extLst>
          </p:cNvPr>
          <p:cNvSpPr>
            <a:spLocks xmlns:a="http://schemas.openxmlformats.org/drawingml/2006/main" noGrp="1"/>
          </p:cNvSpPr>
          <p:nvPr/>
        </p:nvSpPr>
        <p:spPr>
          <a:xfrm xmlns:a="http://schemas.openxmlformats.org/drawingml/2006/main">
            <a:off x="666750" y="644842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KABITA LIVE</a:t>
            </a:r>
          </a:p>
        </p:txBody>
      </p:sp>
      <p:sp>
        <p:nvSpPr>
          <p:cNvPr id="3" name="">
            <a:extLst xmlns:a="http://schemas.openxmlformats.org/drawingml/2006/main">
              <a:ext uri="{FF2B5EF4-FFF2-40B4-BE49-F238E27FC236}">
                <a16:creationId xmlns:a16="http://schemas.microsoft.com/office/drawing/2014/main" id="{EE52DE77-A139-4FB5-A300-673065E5851D}"/>
              </a:ext>
            </a:extLst>
          </p:cNvPr>
          <p:cNvSpPr>
            <a:spLocks xmlns:a="http://schemas.openxmlformats.org/drawingml/2006/main" noGrp="1"/>
          </p:cNvSpPr>
          <p:nvPr/>
        </p:nvSpPr>
        <p:spPr>
          <a:xfrm xmlns:a="http://schemas.openxmlformats.org/drawingml/2006/main">
            <a:off x="11144250" y="64484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55F51"/>
                </a:solidFill>
                <a:latin typeface="Source Serif 4"/>
                <a:ea typeface="Source Serif 4"/>
                <a:cs typeface="Source Serif 4"/>
              </a:defRPr>
            </a:pPr>
            <a:r>
              <a:rPr sz="1200">
                <a:solidFill>
                  <a:srgbClr val="655F51"/>
                </a:solidFill>
                <a:latin typeface="Source Serif 4"/>
                <a:ea typeface="Source Serif 4"/>
                <a:cs typeface="Source Serif 4"/>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3f0f206021a4837"/>
          <a:stretch xmlns:a="http://schemas.openxmlformats.org/drawingml/2006/main"/>
        </p:blipFill>
        <p:spPr>
          <a:xfrm xmlns:a="http://schemas.openxmlformats.org/drawingml/2006/main">
            <a:off x="428625" y="1925638"/>
            <a:ext cx="5810250" cy="3873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238DE7C-F431-46FD-ABD4-38AEF5ED50A8}"/>
              </a:ext>
            </a:extLst>
          </p:cNvPr>
          <p:cNvSpPr>
            <a:spLocks xmlns:a="http://schemas.openxmlformats.org/drawingml/2006/main" noGrp="1"/>
          </p:cNvSpPr>
          <p:nvPr/>
        </p:nvSpPr>
        <p:spPr>
          <a:xfrm xmlns:a="http://schemas.openxmlformats.org/drawingml/2006/main">
            <a:off x="6762750" y="1857375"/>
            <a:ext cx="47148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a:solidFill>
                  <a:srgbClr val="263C3C"/>
                </a:solidFill>
                <a:latin typeface="Cormorant Garamond"/>
                <a:ea typeface="Cormorant Garamond"/>
                <a:cs typeface="Cormorant Garamond"/>
              </a:defRPr>
            </a:pPr>
            <a:r>
              <a:rPr sz="2700">
                <a:solidFill>
                  <a:srgbClr val="263C3C"/>
                </a:solidFill>
                <a:latin typeface="Cormorant Garamond"/>
                <a:ea typeface="Cormorant Garamond"/>
                <a:cs typeface="Cormorant Garamond"/>
              </a:rPr>
              <a:t>Editors shape the direction.</a:t>
            </a:r>
          </a:p>
          <a:p xmlns:a="http://schemas.openxmlformats.org/drawingml/2006/main">
            <a:pPr>
              <a:defRPr sz="2700">
                <a:solidFill>
                  <a:srgbClr val="263C3C"/>
                </a:solidFill>
                <a:latin typeface="Cormorant Garamond"/>
                <a:ea typeface="Cormorant Garamond"/>
                <a:cs typeface="Cormorant Garamond"/>
              </a:defRPr>
            </a:pPr>
            <a:r>
              <a:rPr sz="2700">
                <a:solidFill>
                  <a:srgbClr val="263C3C"/>
                </a:solidFill>
                <a:latin typeface="Cormorant Garamond"/>
                <a:ea typeface="Cormorant Garamond"/>
                <a:cs typeface="Cormorant Garamond"/>
              </a:rPr>
              <a:t>Poets bring their voices.</a:t>
            </a:r>
          </a:p>
          <a:p xmlns:a="http://schemas.openxmlformats.org/drawingml/2006/main">
            <a:pPr>
              <a:defRPr sz="2700">
                <a:solidFill>
                  <a:srgbClr val="263C3C"/>
                </a:solidFill>
                <a:latin typeface="Cormorant Garamond"/>
                <a:ea typeface="Cormorant Garamond"/>
                <a:cs typeface="Cormorant Garamond"/>
              </a:defRPr>
            </a:pPr>
            <a:r>
              <a:rPr sz="2700">
                <a:solidFill>
                  <a:srgbClr val="263C3C"/>
                </a:solidFill>
                <a:latin typeface="Cormorant Garamond"/>
                <a:ea typeface="Cormorant Garamond"/>
                <a:cs typeface="Cormorant Garamond"/>
              </a:rPr>
              <a:t>Readers bring their attention.</a:t>
            </a:r>
          </a:p>
        </p:txBody>
      </p:sp>
      <p:sp>
        <p:nvSpPr>
          <p:cNvPr id="6" name="">
            <a:extLst xmlns:a="http://schemas.openxmlformats.org/drawingml/2006/main">
              <a:ext uri="{FF2B5EF4-FFF2-40B4-BE49-F238E27FC236}">
                <a16:creationId xmlns:a16="http://schemas.microsoft.com/office/drawing/2014/main" id="{12C79A75-A790-4657-BE89-6187C339C6E2}"/>
              </a:ext>
            </a:extLst>
          </p:cNvPr>
          <p:cNvSpPr>
            <a:spLocks xmlns:a="http://schemas.openxmlformats.org/drawingml/2006/main" noGrp="1"/>
          </p:cNvSpPr>
          <p:nvPr/>
        </p:nvSpPr>
        <p:spPr>
          <a:xfrm xmlns:a="http://schemas.openxmlformats.org/drawingml/2006/main">
            <a:off x="6762750" y="3867150"/>
            <a:ext cx="4714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263C3C"/>
                </a:solidFill>
                <a:latin typeface="Source Serif 4"/>
                <a:ea typeface="Source Serif 4"/>
                <a:cs typeface="Source Serif 4"/>
              </a:defRPr>
            </a:pPr>
            <a:r>
              <a:rPr sz="2100">
                <a:solidFill>
                  <a:srgbClr val="263C3C"/>
                </a:solidFill>
                <a:latin typeface="Source Serif 4"/>
                <a:ea typeface="Source Serif 4"/>
                <a:cs typeface="Source Serif 4"/>
              </a:rPr>
              <a:t>The hosted preview is ready to explore and share.</a:t>
            </a:r>
          </a:p>
        </p:txBody>
      </p:sp>
      <p:sp>
        <p:nvSpPr>
          <p:cNvPr id="7" name="">
            <a:extLst xmlns:a="http://schemas.openxmlformats.org/drawingml/2006/main">
              <a:ext uri="{FF2B5EF4-FFF2-40B4-BE49-F238E27FC236}">
                <a16:creationId xmlns:a16="http://schemas.microsoft.com/office/drawing/2014/main" id="{C22600A8-7DBD-4764-B252-DFA50D4678F5}"/>
              </a:ext>
            </a:extLst>
          </p:cNvPr>
          <p:cNvSpPr>
            <a:spLocks xmlns:a="http://schemas.openxmlformats.org/drawingml/2006/main" noGrp="1"/>
          </p:cNvSpPr>
          <p:nvPr/>
        </p:nvSpPr>
        <p:spPr>
          <a:xfrm xmlns:a="http://schemas.openxmlformats.org/drawingml/2006/main">
            <a:off x="6762750" y="5286375"/>
            <a:ext cx="4714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a:solidFill>
                  <a:srgbClr val="963F28"/>
                </a:solidFill>
                <a:latin typeface="Source Serif 4"/>
                <a:ea typeface="Source Serif 4"/>
                <a:cs typeface="Source Serif 4"/>
              </a:defRPr>
            </a:pPr>
            <a:r>
              <a:rPr sz="1725">
                <a:solidFill>
                  <a:srgbClr val="963F28"/>
                </a:solidFill>
                <a:latin typeface="Source Serif 4"/>
                <a:ea typeface="Source Serif 4"/>
                <a:cs typeface="Source Serif 4"/>
                <a:hlinkClick xmlns:r="http://schemas.openxmlformats.org/officeDocument/2006/relationships" r:id="R5b10d3a4098c4b74"/>
              </a:rPr>
              <a:t>ahimanikya.github.io/kabita-live</a:t>
            </a:r>
          </a:p>
        </p:txBody>
      </p:sp>
    </p:spTree>
    <p:extLst>
      <p:ext uri="{BB962C8B-B14F-4D97-AF65-F5344CB8AC3E}">
        <p14:creationId xmlns:p14="http://schemas.microsoft.com/office/powerpoint/2010/main" val="1764697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2026-10-02T14:57:47.0690000Z</dcterms:created>
  <dcterms:modified xsi:type="dcterms:W3CDTF">2026-10-02T14:57:47.0690000Z</dcterms:modified>
</coreProperties>
</file>