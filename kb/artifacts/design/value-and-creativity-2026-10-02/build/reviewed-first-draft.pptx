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17999efbce483e" /><Relationship Type="http://schemas.openxmlformats.org/officeDocument/2006/relationships/extended-properties" Target="/docProps/app.xml" Id="R989b281bc4674463" /><Relationship Type="http://schemas.openxmlformats.org/officeDocument/2006/relationships/officeDocument" Target="/ppt/presentation.xml" Id="Rc1b9461b56764bec" /></Relationships>
</file>

<file path=ppt/presentation.xml><?xml version="1.0" encoding="utf-8"?>
<p:presentation xmlns:p="http://schemas.openxmlformats.org/presentationml/2006/main">
  <p:sldMasterIdLst>
    <p:sldMasterId xmlns:r="http://schemas.openxmlformats.org/officeDocument/2006/relationships" id="2147483648" r:id="R724f075fd500498d"/>
  </p:sldMasterIdLst>
  <p:notesMasterIdLst>
    <p:notesMasterId xmlns:r="http://schemas.openxmlformats.org/officeDocument/2006/relationships" r:id="R6309050b5a8947c0"/>
  </p:notesMasterIdLst>
  <p:sldIdLst>
    <p:sldId xmlns:r="http://schemas.openxmlformats.org/officeDocument/2006/relationships" id="256" r:id="Rcf0b2af30c33440d"/>
    <p:sldId xmlns:r="http://schemas.openxmlformats.org/officeDocument/2006/relationships" id="257" r:id="R1e4b7d67ab29436c"/>
    <p:sldId xmlns:r="http://schemas.openxmlformats.org/officeDocument/2006/relationships" id="258" r:id="R74222975bc204a80"/>
    <p:sldId xmlns:r="http://schemas.openxmlformats.org/officeDocument/2006/relationships" id="259" r:id="R7beccb8bfb9a4ef8"/>
    <p:sldId xmlns:r="http://schemas.openxmlformats.org/officeDocument/2006/relationships" id="260" r:id="R3bc02ad98bd2411e"/>
    <p:sldId xmlns:r="http://schemas.openxmlformats.org/officeDocument/2006/relationships" id="261" r:id="Ref15abc5e9524c00"/>
    <p:sldId xmlns:r="http://schemas.openxmlformats.org/officeDocument/2006/relationships" id="262" r:id="Rbc8b9e057d304ddb"/>
    <p:sldId xmlns:r="http://schemas.openxmlformats.org/officeDocument/2006/relationships" id="263" r:id="R02f41dcda6de4a45"/>
    <p:sldId xmlns:r="http://schemas.openxmlformats.org/officeDocument/2006/relationships" id="264" r:id="R23e20efad73e4691"/>
    <p:sldId xmlns:r="http://schemas.openxmlformats.org/officeDocument/2006/relationships" id="265" r:id="Rd303518a228a4d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3090465f3e4a9e" /><Relationship Type="http://schemas.openxmlformats.org/officeDocument/2006/relationships/slideMaster" Target="/ppt/slideMasters/slideMaster1.xml" Id="R724f075fd500498d" /><Relationship Type="http://schemas.openxmlformats.org/officeDocument/2006/relationships/notesMaster" Target="/ppt/notesMasters/notesMaster1.xml" Id="R6309050b5a8947c0" /><Relationship Type="http://schemas.openxmlformats.org/officeDocument/2006/relationships/presProps" Target="/ppt/presProps.xml" Id="R75dbd04214044b5a" /><Relationship Type="http://schemas.openxmlformats.org/officeDocument/2006/relationships/tableStyles" Target="/ppt/tableStyles.xml" Id="Rdd0ad242fc044344" /><Relationship Type="http://schemas.openxmlformats.org/officeDocument/2006/relationships/slide" Target="/ppt/slides/slide1.xml" Id="Rcf0b2af30c33440d" /><Relationship Type="http://schemas.openxmlformats.org/officeDocument/2006/relationships/slide" Target="/ppt/slides/slide2.xml" Id="R1e4b7d67ab29436c" /><Relationship Type="http://schemas.openxmlformats.org/officeDocument/2006/relationships/slide" Target="/ppt/slides/slide3.xml" Id="R74222975bc204a80" /><Relationship Type="http://schemas.openxmlformats.org/officeDocument/2006/relationships/slide" Target="/ppt/slides/slide4.xml" Id="R7beccb8bfb9a4ef8" /><Relationship Type="http://schemas.openxmlformats.org/officeDocument/2006/relationships/slide" Target="/ppt/slides/slide5.xml" Id="R3bc02ad98bd2411e" /><Relationship Type="http://schemas.openxmlformats.org/officeDocument/2006/relationships/slide" Target="/ppt/slides/slide6.xml" Id="Ref15abc5e9524c00" /><Relationship Type="http://schemas.openxmlformats.org/officeDocument/2006/relationships/slide" Target="/ppt/slides/slide7.xml" Id="Rbc8b9e057d304ddb" /><Relationship Type="http://schemas.openxmlformats.org/officeDocument/2006/relationships/slide" Target="/ppt/slides/slide8.xml" Id="R02f41dcda6de4a45" /><Relationship Type="http://schemas.openxmlformats.org/officeDocument/2006/relationships/slide" Target="/ppt/slides/slide9.xml" Id="R23e20efad73e4691" /><Relationship Type="http://schemas.openxmlformats.org/officeDocument/2006/relationships/slide" Target="/ppt/slides/slide10.xml" Id="Rd303518a228a4d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103146f82349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22a16ea2784b1f" /><Relationship Type="http://schemas.openxmlformats.org/officeDocument/2006/relationships/notesMaster" Target="/ppt/notesMasters/notesMaster1.xml" Id="R3d923065eb6945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1a3c8f97cb4760" /><Relationship Type="http://schemas.openxmlformats.org/officeDocument/2006/relationships/notesMaster" Target="/ppt/notesMasters/notesMaster1.xml" Id="Rf90804fad1a243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bcd3ce5ba648f8" /><Relationship Type="http://schemas.openxmlformats.org/officeDocument/2006/relationships/notesMaster" Target="/ppt/notesMasters/notesMaster1.xml" Id="R58dabe40e51243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9f830304634d7e" /><Relationship Type="http://schemas.openxmlformats.org/officeDocument/2006/relationships/notesMaster" Target="/ppt/notesMasters/notesMaster1.xml" Id="R3e7193c4b39a42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0ce43684eb45ed" /><Relationship Type="http://schemas.openxmlformats.org/officeDocument/2006/relationships/notesMaster" Target="/ppt/notesMasters/notesMaster1.xml" Id="R3d7b141e6da84e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f8096f545b4a02" /><Relationship Type="http://schemas.openxmlformats.org/officeDocument/2006/relationships/notesMaster" Target="/ppt/notesMasters/notesMaster1.xml" Id="R96d36e7b9b454e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4ffbc5c0e44b0d" /><Relationship Type="http://schemas.openxmlformats.org/officeDocument/2006/relationships/notesMaster" Target="/ppt/notesMasters/notesMaster1.xml" Id="R1e7299de344341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cee0dbb2d14ccc" /><Relationship Type="http://schemas.openxmlformats.org/officeDocument/2006/relationships/notesMaster" Target="/ppt/notesMasters/notesMaster1.xml" Id="R9bcaf60a3e6649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d3275d7e8347e7" /><Relationship Type="http://schemas.openxmlformats.org/officeDocument/2006/relationships/notesMaster" Target="/ppt/notesMasters/notesMaster1.xml" Id="Rff5a4e01fcb448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23703773ae4044" /><Relationship Type="http://schemas.openxmlformats.org/officeDocument/2006/relationships/notesMaster" Target="/ppt/notesMasters/notesMaster1.xml" Id="Rec5c846f50774e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The presentation balances the effort behind the redesign, value already available, and possibilities for editorial development. Artwork: projects/site/assets/home/life-after-rain.webp.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Dates use America/Los_Angeles (Pacific Time). The original design proposal is dated 29 September 2026. Activity evidence: KBL-EVT-011/012/013 for profile and poem capture on 29 September; 030/032/040 for Facebook on 30 September; 272 for completion of 427 narratives on 1 October; 310/313/328/343/351 for reader refinements, credits, audit and hosted preview on 2 October. This is a milestone chronology, not a timesheet or claim of measured hours.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Sources: README.md; kb/research/edition-content-import.md; kb/records/github-pages-preview-deployment.json. 801 records captured; 2 unavailable records preserved outside active editions; 799 active poem records. This is not a claim that unresolved editorial questions are closed. Screenshot: hosted archive captured 2 October 2026 in project-story-2026-10-02/screenshots/archive.png.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Sources: kb/registers/activity.jsonl KBL-EVT-272, 343; README.md. All 427 enriched narratives applied. Source-limited profiles remain modest; a few identity and credit questions need editor confirmation. Narmada Nilotpala artistic portrait derives from an existing photograph: projects/site/assets/writers/82-earth-voice-v1.png. Wider portrait rollout remains under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Sources: kb/artifacts/design/brand-guide/DESIGN-SYSTEM.md reading rules; quiet-reader implementation and checks in activity ledger. Bookmarks and marks stay on the reader’s device. Screenshot: hosted quiet reader captured 2 October 2026. Visible poem: Mrittika by Anindita Bose, Issue 47; poetry rights remain with the author. Better conditions for reading are an intended benefit, not measured engagement 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 approved brand guide. English display uses Cormorant Garamond; reading uses Source Serif 4; Odia uses Noto Serif Oriya; Hindi uses Tiro Devanagari Hindi. Screenshot from the hosted homepage, captured 2 October 2026. Cultural presence describes the design intent, not a measured audience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Sources: KBL-WORK-018 editor guide and proposal; kb/reference/storage-layout.md; approved brand guide. The expected reduction in routine rework has not been quantified. Editorial desk artwork: projects/site/assets/section-art/editorial-desk.webp.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These are proposals for editorial exploration, not implemented features or scheduled commitments. Translation drafts need editorial/linguistic review; recited audio remains deferred. New artwork, readings and translations require appropriate contributor involvement and permissions. Private feedback is the agreed engagement model; public comments are not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Illustrative editorial concept only. No poems have been selected and no collection is published or scheduled. Original language and author credits should remain beside each poem; translations only after review. Artwork: projects/site/assets/section-art/gatherings.webp, existing journal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Hosted preview: https://ahimanikya.github.io/kabita-live/ . Source: kb/records/github-pages-preview-deployment.json. Existing domain unchanged; DNS transition is separate. Translation/identity review and portrait work continue. No measured traffic, engagement or productivity uplift is claimed. Acknowledgements: editors, contributors, Sonu Swayin and Versatile IT Services Pvt. Ltd. for hosting and managing Kabita Live since inception. Artwork: projects/site/assets/section-art/our-story.webp.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930eecdd044a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01f758f3864f06" /><Relationship Type="http://schemas.openxmlformats.org/officeDocument/2006/relationships/slideLayout" Target="/ppt/slideLayouts/slideLayout1.xml" Id="Reb8418c69cb94f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8418c69cb94f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d4e73eabbe41e1" /><Relationship Type="http://schemas.openxmlformats.org/officeDocument/2006/relationships/image" Target="/ppt/media/image.jpeg" Id="Rd7c27e41c9b74f5c" /><Relationship Type="http://schemas.openxmlformats.org/officeDocument/2006/relationships/notesSlide" Target="/ppt/notesSlides/notesSlide1.xml" Id="R6bde4e2117154f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90b709cc144874" /><Relationship Type="http://schemas.openxmlformats.org/officeDocument/2006/relationships/notesSlide" Target="/ppt/notesSlides/notesSlide2.xml" Id="R972c6c02b16346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c349843c474881" /><Relationship Type="http://schemas.openxmlformats.org/officeDocument/2006/relationships/image" Target="/ppt/media/image2.jpeg" Id="R64e21e3bd58946f8" /><Relationship Type="http://schemas.openxmlformats.org/officeDocument/2006/relationships/notesSlide" Target="/ppt/notesSlides/notesSlide3.xml" Id="R92199e0fa22e4b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972747c5794953" /><Relationship Type="http://schemas.openxmlformats.org/officeDocument/2006/relationships/image" Target="/ppt/media/image3.jpeg" Id="R952fa147243e44cb" /><Relationship Type="http://schemas.openxmlformats.org/officeDocument/2006/relationships/notesSlide" Target="/ppt/notesSlides/notesSlide4.xml" Id="R43c11ee4d19241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916a5dce86433f" /><Relationship Type="http://schemas.openxmlformats.org/officeDocument/2006/relationships/image" Target="/ppt/media/image4.jpeg" Id="Recc1c5130fbc4169" /><Relationship Type="http://schemas.openxmlformats.org/officeDocument/2006/relationships/notesSlide" Target="/ppt/notesSlides/notesSlide5.xml" Id="R545b27bcaa124b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f3f2361cce4efc" /><Relationship Type="http://schemas.openxmlformats.org/officeDocument/2006/relationships/image" Target="/ppt/media/image5.jpeg" Id="Ra6cc56bdb83a4c27" /><Relationship Type="http://schemas.openxmlformats.org/officeDocument/2006/relationships/notesSlide" Target="/ppt/notesSlides/notesSlide6.xml" Id="R5174f9c25a844f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217b0d5a3dd4e3c" /><Relationship Type="http://schemas.openxmlformats.org/officeDocument/2006/relationships/image" Target="/ppt/media/image6.jpeg" Id="R27aae766789d47a8" /><Relationship Type="http://schemas.openxmlformats.org/officeDocument/2006/relationships/notesSlide" Target="/ppt/notesSlides/notesSlide7.xml" Id="R1aefc1c0b72c4d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18779ee4314e02" /><Relationship Type="http://schemas.openxmlformats.org/officeDocument/2006/relationships/notesSlide" Target="/ppt/notesSlides/notesSlide8.xml" Id="R2b2bcb719a084b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22ed37bd2664f1f" /><Relationship Type="http://schemas.openxmlformats.org/officeDocument/2006/relationships/image" Target="/ppt/media/image7.jpeg" Id="R63f3114a1d394aad" /><Relationship Type="http://schemas.openxmlformats.org/officeDocument/2006/relationships/notesSlide" Target="/ppt/notesSlides/notesSlide9.xml" Id="Rb9320b32877944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c3c7dfc9df4f4b" /><Relationship Type="http://schemas.openxmlformats.org/officeDocument/2006/relationships/image" Target="/ppt/media/image8.jpeg" Id="R100c5e41b0a6420d" /><Relationship Type="http://schemas.openxmlformats.org/officeDocument/2006/relationships/hyperlink" Target="https://ahimanikya.github.io/kabita-live/" TargetMode="External" Id="Rde6ba729e3be4336" /><Relationship Type="http://schemas.openxmlformats.org/officeDocument/2006/relationships/notesSlide" Target="/ppt/notesSlides/notesSlide10.xml" Id="R7cb1c5b98d7d4156" /></Relationships>
</file>

<file path=ppt/slides/slide1.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EE413C-0912-4DB4-AAE7-3F2E8638DC9A}"/>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2" name="">
            <a:extLst xmlns:a="http://schemas.openxmlformats.org/drawingml/2006/main">
              <a:ext uri="{FF2B5EF4-FFF2-40B4-BE49-F238E27FC236}">
                <a16:creationId xmlns:a16="http://schemas.microsoft.com/office/drawing/2014/main" id="{4073B107-F9E6-4FA4-A276-204EA64519D0}"/>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01</a:t>
            </a:r>
          </a:p>
        </p:txBody>
      </p:sp>
      <p:sp>
        <p:nvSpPr>
          <p:cNvPr id="3" name="">
            <a:extLst xmlns:a="http://schemas.openxmlformats.org/drawingml/2006/main">
              <a:ext uri="{FF2B5EF4-FFF2-40B4-BE49-F238E27FC236}">
                <a16:creationId xmlns:a16="http://schemas.microsoft.com/office/drawing/2014/main" id="{EB8EC0D9-2015-4B0F-9FB6-298E7246BCCB}"/>
              </a:ext>
            </a:extLst>
          </p:cNvPr>
          <p:cNvSpPr>
            <a:spLocks xmlns:a="http://schemas.openxmlformats.org/drawingml/2006/main" noGrp="1"/>
          </p:cNvSpPr>
          <p:nvPr/>
        </p:nvSpPr>
        <p:spPr>
          <a:xfrm xmlns:a="http://schemas.openxmlformats.org/drawingml/2006/main">
            <a:off x="666750" y="800100"/>
            <a:ext cx="4667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400">
                <a:solidFill>
                  <a:srgbClr val="263C3C"/>
                </a:solidFill>
                <a:latin typeface="Cormorant Garamond"/>
                <a:ea typeface="Cormorant Garamond"/>
                <a:cs typeface="Cormorant Garamond"/>
              </a:defRPr>
            </a:pPr>
            <a:r>
              <a:rPr sz="5400">
                <a:solidFill>
                  <a:srgbClr val="263C3C"/>
                </a:solidFill>
                <a:latin typeface="Cormorant Garamond"/>
                <a:ea typeface="Cormorant Garamond"/>
                <a:cs typeface="Cormorant Garamond"/>
              </a:rPr>
              <a:t>Kabita Live</a:t>
            </a:r>
          </a:p>
        </p:txBody>
      </p:sp>
      <p:sp>
        <p:nvSpPr>
          <p:cNvPr id="4" name="">
            <a:extLst xmlns:a="http://schemas.openxmlformats.org/drawingml/2006/main">
              <a:ext uri="{FF2B5EF4-FFF2-40B4-BE49-F238E27FC236}">
                <a16:creationId xmlns:a16="http://schemas.microsoft.com/office/drawing/2014/main" id="{730F272E-EB36-48FB-87AD-4F9E4404876F}"/>
              </a:ext>
            </a:extLst>
          </p:cNvPr>
          <p:cNvSpPr>
            <a:spLocks xmlns:a="http://schemas.openxmlformats.org/drawingml/2006/main" noGrp="1"/>
          </p:cNvSpPr>
          <p:nvPr/>
        </p:nvSpPr>
        <p:spPr>
          <a:xfrm xmlns:a="http://schemas.openxmlformats.org/drawingml/2006/main">
            <a:off x="666750" y="1857375"/>
            <a:ext cx="47148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00">
                <a:solidFill>
                  <a:srgbClr val="263C3C"/>
                </a:solidFill>
                <a:latin typeface="Cormorant Garamond"/>
                <a:ea typeface="Cormorant Garamond"/>
                <a:cs typeface="Cormorant Garamond"/>
              </a:defRPr>
            </a:pPr>
            <a:r>
              <a:rPr sz="4200">
                <a:solidFill>
                  <a:srgbClr val="263C3C"/>
                </a:solidFill>
                <a:latin typeface="Cormorant Garamond"/>
                <a:ea typeface="Cormorant Garamond"/>
                <a:cs typeface="Cormorant Garamond"/>
              </a:rPr>
              <a:t>The value we created</a:t>
            </a:r>
          </a:p>
        </p:txBody>
      </p:sp>
      <p:sp>
        <p:nvSpPr>
          <p:cNvPr id="5" name="">
            <a:extLst xmlns:a="http://schemas.openxmlformats.org/drawingml/2006/main">
              <a:ext uri="{FF2B5EF4-FFF2-40B4-BE49-F238E27FC236}">
                <a16:creationId xmlns:a16="http://schemas.microsoft.com/office/drawing/2014/main" id="{85271DC3-770F-4BBC-BD89-629D22295F71}"/>
              </a:ext>
            </a:extLst>
          </p:cNvPr>
          <p:cNvSpPr>
            <a:spLocks xmlns:a="http://schemas.openxmlformats.org/drawingml/2006/main" noGrp="1"/>
          </p:cNvSpPr>
          <p:nvPr/>
        </p:nvSpPr>
        <p:spPr>
          <a:xfrm xmlns:a="http://schemas.openxmlformats.org/drawingml/2006/main">
            <a:off x="666750" y="3619500"/>
            <a:ext cx="4238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Our work, its value and the creative possibilities ahead</a:t>
            </a:r>
          </a:p>
        </p:txBody>
      </p:sp>
      <p:sp>
        <p:nvSpPr>
          <p:cNvPr id="6" name="">
            <a:extLst xmlns:a="http://schemas.openxmlformats.org/drawingml/2006/main">
              <a:ext uri="{FF2B5EF4-FFF2-40B4-BE49-F238E27FC236}">
                <a16:creationId xmlns:a16="http://schemas.microsoft.com/office/drawing/2014/main" id="{088B66BA-B2EC-468E-BE7B-14B812FB72C2}"/>
              </a:ext>
            </a:extLst>
          </p:cNvPr>
          <p:cNvSpPr>
            <a:spLocks xmlns:a="http://schemas.openxmlformats.org/drawingml/2006/main" noGrp="1"/>
          </p:cNvSpPr>
          <p:nvPr/>
        </p:nvSpPr>
        <p:spPr>
          <a:xfrm xmlns:a="http://schemas.openxmlformats.org/drawingml/2006/main">
            <a:off x="666750" y="531495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963F28"/>
                </a:solidFill>
                <a:latin typeface="Source Serif 4"/>
                <a:ea typeface="Source Serif 4"/>
                <a:cs typeface="Source Serif 4"/>
              </a:defRPr>
            </a:pPr>
            <a:r>
              <a:rPr sz="1725">
                <a:solidFill>
                  <a:srgbClr val="963F28"/>
                </a:solidFill>
                <a:latin typeface="Source Serif 4"/>
                <a:ea typeface="Source Serif 4"/>
                <a:cs typeface="Source Serif 4"/>
              </a:rPr>
              <a:t>For editors and friends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7c27e41c9b74f5c"/>
          <a:stretch xmlns:a="http://schemas.openxmlformats.org/drawingml/2006/main"/>
        </p:blipFill>
        <p:spPr>
          <a:xfrm xmlns:a="http://schemas.openxmlformats.org/drawingml/2006/main">
            <a:off x="5905500" y="1498600"/>
            <a:ext cx="5619750" cy="3746500"/>
          </a:xfrm>
          <a:prstGeom xmlns:a="http://schemas.openxmlformats.org/drawingml/2006/main" prst="rect">
            <a:avLst/>
          </a:prstGeom>
        </p:spPr>
      </p:pic>
    </p:spTree>
    <p:extLst>
      <p:ext uri="{BB962C8B-B14F-4D97-AF65-F5344CB8AC3E}">
        <p14:creationId xmlns:p14="http://schemas.microsoft.com/office/powerpoint/2010/main" val="1702251165"/>
      </p:ext>
    </p:extLst>
  </p:cSld>
</p:sld>
</file>

<file path=ppt/slides/slide2.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F031F1B-F155-4B4A-9F40-6B014B2452C1}"/>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Our project timeline</a:t>
            </a:r>
          </a:p>
        </p:txBody>
      </p:sp>
      <p:sp>
        <p:nvSpPr>
          <p:cNvPr id="2" name="">
            <a:extLst xmlns:a="http://schemas.openxmlformats.org/drawingml/2006/main">
              <a:ext uri="{FF2B5EF4-FFF2-40B4-BE49-F238E27FC236}">
                <a16:creationId xmlns:a16="http://schemas.microsoft.com/office/drawing/2014/main" id="{CA5A971B-D4E6-401D-AF27-E96529F5044E}"/>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BCAFDD27-E69A-432F-9B3A-1347C76DDE3D}"/>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02</a:t>
            </a:r>
          </a:p>
        </p:txBody>
      </p:sp>
      <p:sp>
        <p:nvSpPr>
          <p:cNvPr id="4" name="">
            <a:extLst xmlns:a="http://schemas.openxmlformats.org/drawingml/2006/main">
              <a:ext uri="{FF2B5EF4-FFF2-40B4-BE49-F238E27FC236}">
                <a16:creationId xmlns:a16="http://schemas.microsoft.com/office/drawing/2014/main" id="{2F892902-863A-4E8F-9E75-E1A74CE9296E}"/>
              </a:ext>
            </a:extLst>
          </p:cNvPr>
          <p:cNvSpPr>
            <a:spLocks xmlns:a="http://schemas.openxmlformats.org/drawingml/2006/main" noGrp="1"/>
          </p:cNvSpPr>
          <p:nvPr/>
        </p:nvSpPr>
        <p:spPr>
          <a:xfrm xmlns:a="http://schemas.openxmlformats.org/drawingml/2006/main">
            <a:off x="666750" y="13239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a:solidFill>
                  <a:srgbClr val="963F28"/>
                </a:solidFill>
                <a:latin typeface="Source Serif 4"/>
                <a:ea typeface="Source Serif 4"/>
                <a:cs typeface="Source Serif 4"/>
              </a:defRPr>
            </a:pPr>
            <a:r>
              <a:rPr sz="1800">
                <a:solidFill>
                  <a:srgbClr val="963F28"/>
                </a:solidFill>
                <a:latin typeface="Source Serif 4"/>
                <a:ea typeface="Source Serif 4"/>
                <a:cs typeface="Source Serif 4"/>
              </a:rPr>
              <a:t>29 September - 2 October 2026</a:t>
            </a:r>
          </a:p>
        </p:txBody>
      </p:sp>
      <p:sp>
        <p:nvSpPr>
          <p:cNvPr id="5" name="">
            <a:extLst xmlns:a="http://schemas.openxmlformats.org/drawingml/2006/main">
              <a:ext uri="{FF2B5EF4-FFF2-40B4-BE49-F238E27FC236}">
                <a16:creationId xmlns:a16="http://schemas.microsoft.com/office/drawing/2014/main" id="{084BF0F6-4267-44CF-AF78-E016BE871ACB}"/>
              </a:ext>
            </a:extLst>
          </p:cNvPr>
          <p:cNvSpPr>
            <a:spLocks xmlns:a="http://schemas.openxmlformats.org/drawingml/2006/main" noGrp="1"/>
          </p:cNvSpPr>
          <p:nvPr/>
        </p:nvSpPr>
        <p:spPr>
          <a:xfrm xmlns:a="http://schemas.openxmlformats.org/drawingml/2006/main">
            <a:off x="666750" y="1981200"/>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29 SEP</a:t>
            </a:r>
          </a:p>
        </p:txBody>
      </p:sp>
      <p:sp>
        <p:nvSpPr>
          <p:cNvPr id="6" name="">
            <a:extLst xmlns:a="http://schemas.openxmlformats.org/drawingml/2006/main">
              <a:ext uri="{FF2B5EF4-FFF2-40B4-BE49-F238E27FC236}">
                <a16:creationId xmlns:a16="http://schemas.microsoft.com/office/drawing/2014/main" id="{238BC88F-BF2F-443F-98B5-FACCBFF29EE4}"/>
              </a:ext>
            </a:extLst>
          </p:cNvPr>
          <p:cNvSpPr>
            <a:spLocks xmlns:a="http://schemas.openxmlformats.org/drawingml/2006/main" noGrp="1"/>
          </p:cNvSpPr>
          <p:nvPr/>
        </p:nvSpPr>
        <p:spPr>
          <a:xfrm xmlns:a="http://schemas.openxmlformats.org/drawingml/2006/main">
            <a:off x="2600325" y="1981200"/>
            <a:ext cx="876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63C3C"/>
                </a:solidFill>
                <a:latin typeface="Cormorant Garamond"/>
                <a:ea typeface="Cormorant Garamond"/>
                <a:cs typeface="Cormorant Garamond"/>
              </a:defRPr>
            </a:pPr>
            <a:r>
              <a:rPr sz="2325">
                <a:solidFill>
                  <a:srgbClr val="263C3C"/>
                </a:solidFill>
                <a:latin typeface="Cormorant Garamond"/>
                <a:ea typeface="Cormorant Garamond"/>
                <a:cs typeface="Cormorant Garamond"/>
              </a:rPr>
              <a:t>Study, design and preservation</a:t>
            </a:r>
          </a:p>
        </p:txBody>
      </p:sp>
      <p:sp>
        <p:nvSpPr>
          <p:cNvPr id="7" name="">
            <a:extLst xmlns:a="http://schemas.openxmlformats.org/drawingml/2006/main">
              <a:ext uri="{FF2B5EF4-FFF2-40B4-BE49-F238E27FC236}">
                <a16:creationId xmlns:a16="http://schemas.microsoft.com/office/drawing/2014/main" id="{170FD1A0-061D-4816-8D61-AF8260E4C960}"/>
              </a:ext>
            </a:extLst>
          </p:cNvPr>
          <p:cNvSpPr>
            <a:spLocks xmlns:a="http://schemas.openxmlformats.org/drawingml/2006/main" noGrp="1"/>
          </p:cNvSpPr>
          <p:nvPr/>
        </p:nvSpPr>
        <p:spPr>
          <a:xfrm xmlns:a="http://schemas.openxmlformats.org/drawingml/2006/main">
            <a:off x="2600325" y="239077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263C3C"/>
                </a:solidFill>
                <a:latin typeface="Source Serif 4"/>
                <a:ea typeface="Source Serif 4"/>
                <a:cs typeface="Source Serif 4"/>
              </a:defRPr>
            </a:pPr>
            <a:r>
              <a:rPr sz="1725">
                <a:solidFill>
                  <a:srgbClr val="263C3C"/>
                </a:solidFill>
                <a:latin typeface="Source Serif 4"/>
                <a:ea typeface="Source Serif 4"/>
                <a:cs typeface="Source Serif 4"/>
              </a:rPr>
              <a:t>Design proposal and visual direction; 47 editions and 801 poem records captured.</a:t>
            </a:r>
          </a:p>
        </p:txBody>
      </p:sp>
      <p:sp>
        <p:nvSpPr>
          <p:cNvPr id="8" name="">
            <a:extLst xmlns:a="http://schemas.openxmlformats.org/drawingml/2006/main">
              <a:ext uri="{FF2B5EF4-FFF2-40B4-BE49-F238E27FC236}">
                <a16:creationId xmlns:a16="http://schemas.microsoft.com/office/drawing/2014/main" id="{CD7247CF-63D6-4E9D-B56C-9AB2EB88D624}"/>
              </a:ext>
            </a:extLst>
          </p:cNvPr>
          <p:cNvSpPr>
            <a:spLocks xmlns:a="http://schemas.openxmlformats.org/drawingml/2006/main" noGrp="1"/>
          </p:cNvSpPr>
          <p:nvPr/>
        </p:nvSpPr>
        <p:spPr>
          <a:xfrm xmlns:a="http://schemas.openxmlformats.org/drawingml/2006/main">
            <a:off x="666750" y="3009900"/>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30 SEP</a:t>
            </a:r>
          </a:p>
        </p:txBody>
      </p:sp>
      <p:sp>
        <p:nvSpPr>
          <p:cNvPr id="9" name="">
            <a:extLst xmlns:a="http://schemas.openxmlformats.org/drawingml/2006/main">
              <a:ext uri="{FF2B5EF4-FFF2-40B4-BE49-F238E27FC236}">
                <a16:creationId xmlns:a16="http://schemas.microsoft.com/office/drawing/2014/main" id="{6A6EF16F-5A13-4CFD-86DF-8ECB7733F273}"/>
              </a:ext>
            </a:extLst>
          </p:cNvPr>
          <p:cNvSpPr>
            <a:spLocks xmlns:a="http://schemas.openxmlformats.org/drawingml/2006/main" noGrp="1"/>
          </p:cNvSpPr>
          <p:nvPr/>
        </p:nvSpPr>
        <p:spPr>
          <a:xfrm xmlns:a="http://schemas.openxmlformats.org/drawingml/2006/main">
            <a:off x="2600325" y="3009900"/>
            <a:ext cx="876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63C3C"/>
                </a:solidFill>
                <a:latin typeface="Cormorant Garamond"/>
                <a:ea typeface="Cormorant Garamond"/>
                <a:cs typeface="Cormorant Garamond"/>
              </a:defRPr>
            </a:pPr>
            <a:r>
              <a:rPr sz="2325">
                <a:solidFill>
                  <a:srgbClr val="263C3C"/>
                </a:solidFill>
                <a:latin typeface="Cormorant Garamond"/>
                <a:ea typeface="Cormorant Garamond"/>
                <a:cs typeface="Cormorant Garamond"/>
              </a:rPr>
              <a:t>Reader experiments and editorial preparation</a:t>
            </a:r>
          </a:p>
        </p:txBody>
      </p:sp>
      <p:sp>
        <p:nvSpPr>
          <p:cNvPr id="10" name="">
            <a:extLst xmlns:a="http://schemas.openxmlformats.org/drawingml/2006/main">
              <a:ext uri="{FF2B5EF4-FFF2-40B4-BE49-F238E27FC236}">
                <a16:creationId xmlns:a16="http://schemas.microsoft.com/office/drawing/2014/main" id="{C0D7B3A7-DDAC-42EC-83D2-2D56E1B97F07}"/>
              </a:ext>
            </a:extLst>
          </p:cNvPr>
          <p:cNvSpPr>
            <a:spLocks xmlns:a="http://schemas.openxmlformats.org/drawingml/2006/main" noGrp="1"/>
          </p:cNvSpPr>
          <p:nvPr/>
        </p:nvSpPr>
        <p:spPr>
          <a:xfrm xmlns:a="http://schemas.openxmlformats.org/drawingml/2006/main">
            <a:off x="2600325" y="341947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263C3C"/>
                </a:solidFill>
                <a:latin typeface="Source Serif 4"/>
                <a:ea typeface="Source Serif 4"/>
                <a:cs typeface="Source Serif 4"/>
              </a:defRPr>
            </a:pPr>
            <a:r>
              <a:rPr sz="1725">
                <a:solidFill>
                  <a:srgbClr val="263C3C"/>
                </a:solidFill>
                <a:latin typeface="Source Serif 4"/>
                <a:ea typeface="Source Serif 4"/>
                <a:cs typeface="Source Serif 4"/>
              </a:rPr>
              <a:t>Typography, artwork and reading controls; translation drafts and Facebook presence.</a:t>
            </a:r>
          </a:p>
        </p:txBody>
      </p:sp>
      <p:sp>
        <p:nvSpPr>
          <p:cNvPr id="11" name="">
            <a:extLst xmlns:a="http://schemas.openxmlformats.org/drawingml/2006/main">
              <a:ext uri="{FF2B5EF4-FFF2-40B4-BE49-F238E27FC236}">
                <a16:creationId xmlns:a16="http://schemas.microsoft.com/office/drawing/2014/main" id="{0FDAAFC1-7EDB-429B-A80A-805FB10A5E68}"/>
              </a:ext>
            </a:extLst>
          </p:cNvPr>
          <p:cNvSpPr>
            <a:spLocks xmlns:a="http://schemas.openxmlformats.org/drawingml/2006/main" noGrp="1"/>
          </p:cNvSpPr>
          <p:nvPr/>
        </p:nvSpPr>
        <p:spPr>
          <a:xfrm xmlns:a="http://schemas.openxmlformats.org/drawingml/2006/main">
            <a:off x="666750" y="4038600"/>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01 OCT</a:t>
            </a:r>
          </a:p>
        </p:txBody>
      </p:sp>
      <p:sp>
        <p:nvSpPr>
          <p:cNvPr id="12" name="">
            <a:extLst xmlns:a="http://schemas.openxmlformats.org/drawingml/2006/main">
              <a:ext uri="{FF2B5EF4-FFF2-40B4-BE49-F238E27FC236}">
                <a16:creationId xmlns:a16="http://schemas.microsoft.com/office/drawing/2014/main" id="{612BF4FC-8652-4046-9DD3-D9DD8C3BB4B6}"/>
              </a:ext>
            </a:extLst>
          </p:cNvPr>
          <p:cNvSpPr>
            <a:spLocks xmlns:a="http://schemas.openxmlformats.org/drawingml/2006/main" noGrp="1"/>
          </p:cNvSpPr>
          <p:nvPr/>
        </p:nvSpPr>
        <p:spPr>
          <a:xfrm xmlns:a="http://schemas.openxmlformats.org/drawingml/2006/main">
            <a:off x="2600325" y="4038600"/>
            <a:ext cx="876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63C3C"/>
                </a:solidFill>
                <a:latin typeface="Cormorant Garamond"/>
                <a:ea typeface="Cormorant Garamond"/>
                <a:cs typeface="Cormorant Garamond"/>
              </a:defRPr>
            </a:pPr>
            <a:r>
              <a:rPr sz="2325">
                <a:solidFill>
                  <a:srgbClr val="263C3C"/>
                </a:solidFill>
                <a:latin typeface="Cormorant Garamond"/>
                <a:ea typeface="Cormorant Garamond"/>
                <a:cs typeface="Cormorant Garamond"/>
              </a:rPr>
              <a:t>Poet research and page review</a:t>
            </a:r>
          </a:p>
        </p:txBody>
      </p:sp>
      <p:sp>
        <p:nvSpPr>
          <p:cNvPr id="13" name="">
            <a:extLst xmlns:a="http://schemas.openxmlformats.org/drawingml/2006/main">
              <a:ext uri="{FF2B5EF4-FFF2-40B4-BE49-F238E27FC236}">
                <a16:creationId xmlns:a16="http://schemas.microsoft.com/office/drawing/2014/main" id="{A90BA1CF-A9A7-41C8-B18B-47725FAF4F6A}"/>
              </a:ext>
            </a:extLst>
          </p:cNvPr>
          <p:cNvSpPr>
            <a:spLocks xmlns:a="http://schemas.openxmlformats.org/drawingml/2006/main" noGrp="1"/>
          </p:cNvSpPr>
          <p:nvPr/>
        </p:nvSpPr>
        <p:spPr>
          <a:xfrm xmlns:a="http://schemas.openxmlformats.org/drawingml/2006/main">
            <a:off x="2600325" y="444817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263C3C"/>
                </a:solidFill>
                <a:latin typeface="Source Serif 4"/>
                <a:ea typeface="Source Serif 4"/>
                <a:cs typeface="Source Serif 4"/>
              </a:defRPr>
            </a:pPr>
            <a:r>
              <a:rPr sz="1725">
                <a:solidFill>
                  <a:srgbClr val="263C3C"/>
                </a:solidFill>
                <a:latin typeface="Source Serif 4"/>
                <a:ea typeface="Source Serif 4"/>
                <a:cs typeface="Source Serif 4"/>
              </a:rPr>
              <a:t>All 427 enriched narratives applied; poem, profile and archive refinements.</a:t>
            </a:r>
          </a:p>
        </p:txBody>
      </p:sp>
      <p:sp>
        <p:nvSpPr>
          <p:cNvPr id="14" name="">
            <a:extLst xmlns:a="http://schemas.openxmlformats.org/drawingml/2006/main">
              <a:ext uri="{FF2B5EF4-FFF2-40B4-BE49-F238E27FC236}">
                <a16:creationId xmlns:a16="http://schemas.microsoft.com/office/drawing/2014/main" id="{AC30C4B4-86EE-4304-A197-6B39225B19C2}"/>
              </a:ext>
            </a:extLst>
          </p:cNvPr>
          <p:cNvSpPr>
            <a:spLocks xmlns:a="http://schemas.openxmlformats.org/drawingml/2006/main" noGrp="1"/>
          </p:cNvSpPr>
          <p:nvPr/>
        </p:nvSpPr>
        <p:spPr>
          <a:xfrm xmlns:a="http://schemas.openxmlformats.org/drawingml/2006/main">
            <a:off x="666750" y="5067300"/>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02 OCT</a:t>
            </a:r>
          </a:p>
        </p:txBody>
      </p:sp>
      <p:sp>
        <p:nvSpPr>
          <p:cNvPr id="15" name="">
            <a:extLst xmlns:a="http://schemas.openxmlformats.org/drawingml/2006/main">
              <a:ext uri="{FF2B5EF4-FFF2-40B4-BE49-F238E27FC236}">
                <a16:creationId xmlns:a16="http://schemas.microsoft.com/office/drawing/2014/main" id="{A33EC52E-4AA3-4101-9519-DCB248D98916}"/>
              </a:ext>
            </a:extLst>
          </p:cNvPr>
          <p:cNvSpPr>
            <a:spLocks xmlns:a="http://schemas.openxmlformats.org/drawingml/2006/main" noGrp="1"/>
          </p:cNvSpPr>
          <p:nvPr/>
        </p:nvSpPr>
        <p:spPr>
          <a:xfrm xmlns:a="http://schemas.openxmlformats.org/drawingml/2006/main">
            <a:off x="2600325" y="5067300"/>
            <a:ext cx="876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63C3C"/>
                </a:solidFill>
                <a:latin typeface="Cormorant Garamond"/>
                <a:ea typeface="Cormorant Garamond"/>
                <a:cs typeface="Cormorant Garamond"/>
              </a:defRPr>
            </a:pPr>
            <a:r>
              <a:rPr sz="2325">
                <a:solidFill>
                  <a:srgbClr val="263C3C"/>
                </a:solidFill>
                <a:latin typeface="Cormorant Garamond"/>
                <a:ea typeface="Cormorant Garamond"/>
                <a:cs typeface="Cormorant Garamond"/>
              </a:rPr>
              <a:t>Final refinements and hosted preview</a:t>
            </a:r>
          </a:p>
        </p:txBody>
      </p:sp>
      <p:sp>
        <p:nvSpPr>
          <p:cNvPr id="16" name="">
            <a:extLst xmlns:a="http://schemas.openxmlformats.org/drawingml/2006/main">
              <a:ext uri="{FF2B5EF4-FFF2-40B4-BE49-F238E27FC236}">
                <a16:creationId xmlns:a16="http://schemas.microsoft.com/office/drawing/2014/main" id="{4EC60206-A46B-4E4E-B924-BD1AF5089820}"/>
              </a:ext>
            </a:extLst>
          </p:cNvPr>
          <p:cNvSpPr>
            <a:spLocks xmlns:a="http://schemas.openxmlformats.org/drawingml/2006/main" noGrp="1"/>
          </p:cNvSpPr>
          <p:nvPr/>
        </p:nvSpPr>
        <p:spPr>
          <a:xfrm xmlns:a="http://schemas.openxmlformats.org/drawingml/2006/main">
            <a:off x="2600325" y="547687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263C3C"/>
                </a:solidFill>
                <a:latin typeface="Source Serif 4"/>
                <a:ea typeface="Source Serif 4"/>
                <a:cs typeface="Source Serif 4"/>
              </a:defRPr>
            </a:pPr>
            <a:r>
              <a:rPr sz="1725">
                <a:solidFill>
                  <a:srgbClr val="263C3C"/>
                </a:solidFill>
                <a:latin typeface="Source Serif 4"/>
                <a:ea typeface="Source Serif 4"/>
                <a:cs typeface="Source Serif 4"/>
              </a:rPr>
              <a:t>Reader and credit checks; writer audit; verified hosting and materials to share.</a:t>
            </a:r>
          </a:p>
        </p:txBody>
      </p:sp>
    </p:spTree>
    <p:extLst>
      <p:ext uri="{BB962C8B-B14F-4D97-AF65-F5344CB8AC3E}">
        <p14:creationId xmlns:p14="http://schemas.microsoft.com/office/powerpoint/2010/main" val="761326218"/>
      </p:ext>
    </p:extLst>
  </p:cSld>
</p:sld>
</file>

<file path=ppt/slides/slide3.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094125-3103-4D02-868D-16CEBF15E871}"/>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An archive readers can explore</a:t>
            </a:r>
          </a:p>
        </p:txBody>
      </p:sp>
      <p:sp>
        <p:nvSpPr>
          <p:cNvPr id="2" name="">
            <a:extLst xmlns:a="http://schemas.openxmlformats.org/drawingml/2006/main">
              <a:ext uri="{FF2B5EF4-FFF2-40B4-BE49-F238E27FC236}">
                <a16:creationId xmlns:a16="http://schemas.microsoft.com/office/drawing/2014/main" id="{581BD734-32B7-4708-8AD1-BC308EEE1FEF}"/>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ED7816D7-C972-454B-A275-C540CB5D4D91}"/>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03</a:t>
            </a:r>
          </a:p>
        </p:txBody>
      </p:sp>
      <p:sp>
        <p:nvSpPr>
          <p:cNvPr id="4" name="">
            <a:extLst xmlns:a="http://schemas.openxmlformats.org/drawingml/2006/main">
              <a:ext uri="{FF2B5EF4-FFF2-40B4-BE49-F238E27FC236}">
                <a16:creationId xmlns:a16="http://schemas.microsoft.com/office/drawing/2014/main" id="{6C88E5A0-1EE8-45AA-84CA-6B8796751CC1}"/>
              </a:ext>
            </a:extLst>
          </p:cNvPr>
          <p:cNvSpPr>
            <a:spLocks xmlns:a="http://schemas.openxmlformats.org/drawingml/2006/main" noGrp="1"/>
          </p:cNvSpPr>
          <p:nvPr/>
        </p:nvSpPr>
        <p:spPr>
          <a:xfrm xmlns:a="http://schemas.openxmlformats.org/drawingml/2006/main">
            <a:off x="666750" y="1857375"/>
            <a:ext cx="2095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350">
                <a:solidFill>
                  <a:srgbClr val="963F28"/>
                </a:solidFill>
                <a:latin typeface="Cormorant Garamond"/>
                <a:ea typeface="Cormorant Garamond"/>
                <a:cs typeface="Cormorant Garamond"/>
              </a:defRPr>
            </a:pPr>
            <a:r>
              <a:rPr sz="7350">
                <a:solidFill>
                  <a:srgbClr val="963F28"/>
                </a:solidFill>
                <a:latin typeface="Cormorant Garamond"/>
                <a:ea typeface="Cormorant Garamond"/>
                <a:cs typeface="Cormorant Garamond"/>
              </a:rPr>
              <a:t>47</a:t>
            </a:r>
          </a:p>
        </p:txBody>
      </p:sp>
      <p:sp>
        <p:nvSpPr>
          <p:cNvPr id="5" name="">
            <a:extLst xmlns:a="http://schemas.openxmlformats.org/drawingml/2006/main">
              <a:ext uri="{FF2B5EF4-FFF2-40B4-BE49-F238E27FC236}">
                <a16:creationId xmlns:a16="http://schemas.microsoft.com/office/drawing/2014/main" id="{484466C5-A544-4EA5-BF76-D672A3F7615F}"/>
              </a:ext>
            </a:extLst>
          </p:cNvPr>
          <p:cNvSpPr>
            <a:spLocks xmlns:a="http://schemas.openxmlformats.org/drawingml/2006/main" noGrp="1"/>
          </p:cNvSpPr>
          <p:nvPr/>
        </p:nvSpPr>
        <p:spPr>
          <a:xfrm xmlns:a="http://schemas.openxmlformats.org/drawingml/2006/main">
            <a:off x="666750" y="2933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editions</a:t>
            </a:r>
          </a:p>
        </p:txBody>
      </p:sp>
      <p:sp>
        <p:nvSpPr>
          <p:cNvPr id="6" name="">
            <a:extLst xmlns:a="http://schemas.openxmlformats.org/drawingml/2006/main">
              <a:ext uri="{FF2B5EF4-FFF2-40B4-BE49-F238E27FC236}">
                <a16:creationId xmlns:a16="http://schemas.microsoft.com/office/drawing/2014/main" id="{E4D76FBF-D7AC-4BC9-881C-1865412BEC13}"/>
              </a:ext>
            </a:extLst>
          </p:cNvPr>
          <p:cNvSpPr>
            <a:spLocks xmlns:a="http://schemas.openxmlformats.org/drawingml/2006/main" noGrp="1"/>
          </p:cNvSpPr>
          <p:nvPr/>
        </p:nvSpPr>
        <p:spPr>
          <a:xfrm xmlns:a="http://schemas.openxmlformats.org/drawingml/2006/main">
            <a:off x="3000375" y="1857375"/>
            <a:ext cx="2190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350">
                <a:solidFill>
                  <a:srgbClr val="963F28"/>
                </a:solidFill>
                <a:latin typeface="Cormorant Garamond"/>
                <a:ea typeface="Cormorant Garamond"/>
                <a:cs typeface="Cormorant Garamond"/>
              </a:defRPr>
            </a:pPr>
            <a:r>
              <a:rPr sz="7350">
                <a:solidFill>
                  <a:srgbClr val="963F28"/>
                </a:solidFill>
                <a:latin typeface="Cormorant Garamond"/>
                <a:ea typeface="Cormorant Garamond"/>
                <a:cs typeface="Cormorant Garamond"/>
              </a:rPr>
              <a:t>799</a:t>
            </a:r>
          </a:p>
        </p:txBody>
      </p:sp>
      <p:sp>
        <p:nvSpPr>
          <p:cNvPr id="7" name="">
            <a:extLst xmlns:a="http://schemas.openxmlformats.org/drawingml/2006/main">
              <a:ext uri="{FF2B5EF4-FFF2-40B4-BE49-F238E27FC236}">
                <a16:creationId xmlns:a16="http://schemas.microsoft.com/office/drawing/2014/main" id="{8D8F3E70-482B-45A1-9AD3-733323AD5F17}"/>
              </a:ext>
            </a:extLst>
          </p:cNvPr>
          <p:cNvSpPr>
            <a:spLocks xmlns:a="http://schemas.openxmlformats.org/drawingml/2006/main" noGrp="1"/>
          </p:cNvSpPr>
          <p:nvPr/>
        </p:nvSpPr>
        <p:spPr>
          <a:xfrm xmlns:a="http://schemas.openxmlformats.org/drawingml/2006/main">
            <a:off x="3000375" y="29337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active poems</a:t>
            </a:r>
          </a:p>
        </p:txBody>
      </p:sp>
      <p:sp>
        <p:nvSpPr>
          <p:cNvPr id="8" name="">
            <a:extLst xmlns:a="http://schemas.openxmlformats.org/drawingml/2006/main">
              <a:ext uri="{FF2B5EF4-FFF2-40B4-BE49-F238E27FC236}">
                <a16:creationId xmlns:a16="http://schemas.microsoft.com/office/drawing/2014/main" id="{03FDA1A7-1E21-4427-A5B7-BEA728A3269C}"/>
              </a:ext>
            </a:extLst>
          </p:cNvPr>
          <p:cNvSpPr>
            <a:spLocks xmlns:a="http://schemas.openxmlformats.org/drawingml/2006/main" noGrp="1"/>
          </p:cNvSpPr>
          <p:nvPr/>
        </p:nvSpPr>
        <p:spPr>
          <a:xfrm xmlns:a="http://schemas.openxmlformats.org/drawingml/2006/main">
            <a:off x="666750" y="379095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Poems connect to their editions and contributors.</a:t>
            </a:r>
          </a:p>
        </p:txBody>
      </p:sp>
      <p:sp>
        <p:nvSpPr>
          <p:cNvPr id="9" name="">
            <a:extLst xmlns:a="http://schemas.openxmlformats.org/drawingml/2006/main">
              <a:ext uri="{FF2B5EF4-FFF2-40B4-BE49-F238E27FC236}">
                <a16:creationId xmlns:a16="http://schemas.microsoft.com/office/drawing/2014/main" id="{5339B731-A8E8-402A-855B-E32BA488FF00}"/>
              </a:ext>
            </a:extLst>
          </p:cNvPr>
          <p:cNvSpPr>
            <a:spLocks xmlns:a="http://schemas.openxmlformats.org/drawingml/2006/main" noGrp="1"/>
          </p:cNvSpPr>
          <p:nvPr/>
        </p:nvSpPr>
        <p:spPr>
          <a:xfrm xmlns:a="http://schemas.openxmlformats.org/drawingml/2006/main">
            <a:off x="666750" y="5048250"/>
            <a:ext cx="4191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Earlier writing has more ways to find a new reader.</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4e21e3bd58946f8"/>
          <a:stretch xmlns:a="http://schemas.openxmlformats.org/drawingml/2006/main"/>
        </p:blipFill>
        <p:spPr>
          <a:xfrm xmlns:a="http://schemas.openxmlformats.org/drawingml/2006/main">
            <a:off x="5476875" y="1671489"/>
            <a:ext cx="6191250" cy="4353223"/>
          </a:xfrm>
          <a:prstGeom xmlns:a="http://schemas.openxmlformats.org/drawingml/2006/main" prst="rect">
            <a:avLst/>
          </a:prstGeom>
        </p:spPr>
      </p:pic>
    </p:spTree>
    <p:extLst>
      <p:ext uri="{BB962C8B-B14F-4D97-AF65-F5344CB8AC3E}">
        <p14:creationId xmlns:p14="http://schemas.microsoft.com/office/powerpoint/2010/main" val="7945872"/>
      </p:ext>
    </p:extLst>
  </p:cSld>
</p:sld>
</file>

<file path=ppt/slides/slide4.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5AE0E7-160C-4870-A4DD-D1DF5CE86673}"/>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 fuller presence for each poet</a:t>
            </a:r>
          </a:p>
        </p:txBody>
      </p:sp>
      <p:sp>
        <p:nvSpPr>
          <p:cNvPr id="2" name="">
            <a:extLst xmlns:a="http://schemas.openxmlformats.org/drawingml/2006/main">
              <a:ext uri="{FF2B5EF4-FFF2-40B4-BE49-F238E27FC236}">
                <a16:creationId xmlns:a16="http://schemas.microsoft.com/office/drawing/2014/main" id="{D9D41444-3D17-4932-A539-1B6258D4E06A}"/>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6B60CE1F-8E0F-4FF0-995B-65DB166D863D}"/>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52fa147243e44cb"/>
          <a:stretch xmlns:a="http://schemas.openxmlformats.org/drawingml/2006/main"/>
        </p:blipFill>
        <p:spPr>
          <a:xfrm xmlns:a="http://schemas.openxmlformats.org/drawingml/2006/main">
            <a:off x="904875" y="1762125"/>
            <a:ext cx="3810000"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2B53712-9ED4-43DC-B173-D3F9D59239F4}"/>
              </a:ext>
            </a:extLst>
          </p:cNvPr>
          <p:cNvSpPr>
            <a:spLocks xmlns:a="http://schemas.openxmlformats.org/drawingml/2006/main" noGrp="1"/>
          </p:cNvSpPr>
          <p:nvPr/>
        </p:nvSpPr>
        <p:spPr>
          <a:xfrm xmlns:a="http://schemas.openxmlformats.org/drawingml/2006/main">
            <a:off x="904875" y="582930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655F51"/>
                </a:solidFill>
                <a:latin typeface="Source Serif 4"/>
                <a:ea typeface="Source Serif 4"/>
                <a:cs typeface="Source Serif 4"/>
              </a:defRPr>
            </a:pPr>
            <a:r>
              <a:rPr sz="1725">
                <a:solidFill>
                  <a:srgbClr val="655F51"/>
                </a:solidFill>
                <a:latin typeface="Source Serif 4"/>
                <a:ea typeface="Source Serif 4"/>
                <a:cs typeface="Source Serif 4"/>
              </a:rPr>
              <a:t>Narmada Nilotpala</a:t>
            </a:r>
          </a:p>
        </p:txBody>
      </p:sp>
      <p:sp>
        <p:nvSpPr>
          <p:cNvPr id="6" name="">
            <a:extLst xmlns:a="http://schemas.openxmlformats.org/drawingml/2006/main">
              <a:ext uri="{FF2B5EF4-FFF2-40B4-BE49-F238E27FC236}">
                <a16:creationId xmlns:a16="http://schemas.microsoft.com/office/drawing/2014/main" id="{FBA03F43-8F1B-431B-BB96-09059B8A9F61}"/>
              </a:ext>
            </a:extLst>
          </p:cNvPr>
          <p:cNvSpPr>
            <a:spLocks xmlns:a="http://schemas.openxmlformats.org/drawingml/2006/main" noGrp="1"/>
          </p:cNvSpPr>
          <p:nvPr/>
        </p:nvSpPr>
        <p:spPr>
          <a:xfrm xmlns:a="http://schemas.openxmlformats.org/drawingml/2006/main">
            <a:off x="6000750" y="1714500"/>
            <a:ext cx="5143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050">
                <a:solidFill>
                  <a:srgbClr val="963F28"/>
                </a:solidFill>
                <a:latin typeface="Cormorant Garamond"/>
                <a:ea typeface="Cormorant Garamond"/>
                <a:cs typeface="Cormorant Garamond"/>
              </a:defRPr>
            </a:pPr>
            <a:r>
              <a:rPr sz="7050">
                <a:solidFill>
                  <a:srgbClr val="963F28"/>
                </a:solidFill>
                <a:latin typeface="Cormorant Garamond"/>
                <a:ea typeface="Cormorant Garamond"/>
                <a:cs typeface="Cormorant Garamond"/>
              </a:rPr>
              <a:t>427</a:t>
            </a:r>
          </a:p>
        </p:txBody>
      </p:sp>
      <p:sp>
        <p:nvSpPr>
          <p:cNvPr id="7" name="">
            <a:extLst xmlns:a="http://schemas.openxmlformats.org/drawingml/2006/main">
              <a:ext uri="{FF2B5EF4-FFF2-40B4-BE49-F238E27FC236}">
                <a16:creationId xmlns:a16="http://schemas.microsoft.com/office/drawing/2014/main" id="{B97BF9CB-89DA-45D5-97BB-33C79A552779}"/>
              </a:ext>
            </a:extLst>
          </p:cNvPr>
          <p:cNvSpPr>
            <a:spLocks xmlns:a="http://schemas.openxmlformats.org/drawingml/2006/main" noGrp="1"/>
          </p:cNvSpPr>
          <p:nvPr/>
        </p:nvSpPr>
        <p:spPr>
          <a:xfrm xmlns:a="http://schemas.openxmlformats.org/drawingml/2006/main">
            <a:off x="6000750" y="2790825"/>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a:solidFill>
                  <a:srgbClr val="263C3C"/>
                </a:solidFill>
                <a:latin typeface="Source Serif 4"/>
                <a:ea typeface="Source Serif 4"/>
                <a:cs typeface="Source Serif 4"/>
              </a:defRPr>
            </a:pPr>
            <a:r>
              <a:rPr sz="2250">
                <a:solidFill>
                  <a:srgbClr val="263C3C"/>
                </a:solidFill>
                <a:latin typeface="Source Serif 4"/>
                <a:ea typeface="Source Serif 4"/>
                <a:cs typeface="Source Serif 4"/>
              </a:rPr>
              <a:t>enriched poet narratives</a:t>
            </a:r>
          </a:p>
        </p:txBody>
      </p:sp>
      <p:sp>
        <p:nvSpPr>
          <p:cNvPr id="8" name="">
            <a:extLst xmlns:a="http://schemas.openxmlformats.org/drawingml/2006/main">
              <a:ext uri="{FF2B5EF4-FFF2-40B4-BE49-F238E27FC236}">
                <a16:creationId xmlns:a16="http://schemas.microsoft.com/office/drawing/2014/main" id="{ED3AFB47-645D-4604-AD73-5CFE39A33DDE}"/>
              </a:ext>
            </a:extLst>
          </p:cNvPr>
          <p:cNvSpPr>
            <a:spLocks xmlns:a="http://schemas.openxmlformats.org/drawingml/2006/main" noGrp="1"/>
          </p:cNvSpPr>
          <p:nvPr/>
        </p:nvSpPr>
        <p:spPr>
          <a:xfrm xmlns:a="http://schemas.openxmlformats.org/drawingml/2006/main">
            <a:off x="6000750" y="3695700"/>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Literary backgrounds and contribution histories give readers context.</a:t>
            </a:r>
          </a:p>
        </p:txBody>
      </p:sp>
      <p:sp>
        <p:nvSpPr>
          <p:cNvPr id="9" name="">
            <a:extLst xmlns:a="http://schemas.openxmlformats.org/drawingml/2006/main">
              <a:ext uri="{FF2B5EF4-FFF2-40B4-BE49-F238E27FC236}">
                <a16:creationId xmlns:a16="http://schemas.microsoft.com/office/drawing/2014/main" id="{E95CD655-1373-4606-9CFB-DFE97ED1025C}"/>
              </a:ext>
            </a:extLst>
          </p:cNvPr>
          <p:cNvSpPr>
            <a:spLocks xmlns:a="http://schemas.openxmlformats.org/drawingml/2006/main" noGrp="1"/>
          </p:cNvSpPr>
          <p:nvPr/>
        </p:nvSpPr>
        <p:spPr>
          <a:xfrm xmlns:a="http://schemas.openxmlformats.org/drawingml/2006/main">
            <a:off x="6000750" y="5019675"/>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Careful identity checks and faithful quotations support that recognition.</a:t>
            </a:r>
          </a:p>
        </p:txBody>
      </p:sp>
    </p:spTree>
    <p:extLst>
      <p:ext uri="{BB962C8B-B14F-4D97-AF65-F5344CB8AC3E}">
        <p14:creationId xmlns:p14="http://schemas.microsoft.com/office/powerpoint/2010/main" val="197990221"/>
      </p:ext>
    </p:extLst>
  </p:cSld>
</p:sld>
</file>

<file path=ppt/slides/slide5.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8F4BEB-1814-45DC-A53C-5EEE4126655A}"/>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More room for attention</a:t>
            </a:r>
          </a:p>
        </p:txBody>
      </p:sp>
      <p:sp>
        <p:nvSpPr>
          <p:cNvPr id="2" name="">
            <a:extLst xmlns:a="http://schemas.openxmlformats.org/drawingml/2006/main">
              <a:ext uri="{FF2B5EF4-FFF2-40B4-BE49-F238E27FC236}">
                <a16:creationId xmlns:a16="http://schemas.microsoft.com/office/drawing/2014/main" id="{1CD5D99F-E703-4658-B2C1-F2BF1E8D0F9B}"/>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6DACF8D8-8F84-405F-ADBD-DB36563BFAD1}"/>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05</a:t>
            </a:r>
          </a:p>
        </p:txBody>
      </p:sp>
      <p:sp>
        <p:nvSpPr>
          <p:cNvPr id="4" name="">
            <a:extLst xmlns:a="http://schemas.openxmlformats.org/drawingml/2006/main">
              <a:ext uri="{FF2B5EF4-FFF2-40B4-BE49-F238E27FC236}">
                <a16:creationId xmlns:a16="http://schemas.microsoft.com/office/drawing/2014/main" id="{8E394875-72DD-4EA8-8EF7-06DC5F381BAC}"/>
              </a:ext>
            </a:extLst>
          </p:cNvPr>
          <p:cNvSpPr>
            <a:spLocks xmlns:a="http://schemas.openxmlformats.org/drawingml/2006/main" noGrp="1"/>
          </p:cNvSpPr>
          <p:nvPr/>
        </p:nvSpPr>
        <p:spPr>
          <a:xfrm xmlns:a="http://schemas.openxmlformats.org/drawingml/2006/main">
            <a:off x="666750" y="2028825"/>
            <a:ext cx="4048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63C3C"/>
                </a:solidFill>
                <a:latin typeface="Source Serif 4"/>
                <a:ea typeface="Source Serif 4"/>
                <a:cs typeface="Source Serif 4"/>
              </a:defRPr>
            </a:pPr>
            <a:r>
              <a:rPr sz="2325">
                <a:solidFill>
                  <a:srgbClr val="263C3C"/>
                </a:solidFill>
                <a:latin typeface="Source Serif 4"/>
                <a:ea typeface="Source Serif 4"/>
                <a:cs typeface="Source Serif 4"/>
              </a:rPr>
              <a:t>Quiet reading brings the poem into focus.</a:t>
            </a:r>
          </a:p>
        </p:txBody>
      </p:sp>
      <p:sp>
        <p:nvSpPr>
          <p:cNvPr id="5" name="">
            <a:extLst xmlns:a="http://schemas.openxmlformats.org/drawingml/2006/main">
              <a:ext uri="{FF2B5EF4-FFF2-40B4-BE49-F238E27FC236}">
                <a16:creationId xmlns:a16="http://schemas.microsoft.com/office/drawing/2014/main" id="{14209ACE-98D8-46C4-95DB-B789A074BB49}"/>
              </a:ext>
            </a:extLst>
          </p:cNvPr>
          <p:cNvSpPr>
            <a:spLocks xmlns:a="http://schemas.openxmlformats.org/drawingml/2006/main" noGrp="1"/>
          </p:cNvSpPr>
          <p:nvPr/>
        </p:nvSpPr>
        <p:spPr>
          <a:xfrm xmlns:a="http://schemas.openxmlformats.org/drawingml/2006/main">
            <a:off x="666750" y="3390900"/>
            <a:ext cx="4048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Adjustable text and appearance support different reading preferences.</a:t>
            </a:r>
          </a:p>
        </p:txBody>
      </p:sp>
      <p:sp>
        <p:nvSpPr>
          <p:cNvPr id="6" name="">
            <a:extLst xmlns:a="http://schemas.openxmlformats.org/drawingml/2006/main">
              <a:ext uri="{FF2B5EF4-FFF2-40B4-BE49-F238E27FC236}">
                <a16:creationId xmlns:a16="http://schemas.microsoft.com/office/drawing/2014/main" id="{8304C2DA-6561-44CF-A3D4-598ABF77309C}"/>
              </a:ext>
            </a:extLst>
          </p:cNvPr>
          <p:cNvSpPr>
            <a:spLocks xmlns:a="http://schemas.openxmlformats.org/drawingml/2006/main" noGrp="1"/>
          </p:cNvSpPr>
          <p:nvPr/>
        </p:nvSpPr>
        <p:spPr>
          <a:xfrm xmlns:a="http://schemas.openxmlformats.org/drawingml/2006/main">
            <a:off x="666750" y="4981575"/>
            <a:ext cx="4048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Search and bookmarks help readers discover and return.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cc1c5130fbc4169"/>
          <a:stretch xmlns:a="http://schemas.openxmlformats.org/drawingml/2006/main"/>
        </p:blipFill>
        <p:spPr>
          <a:xfrm xmlns:a="http://schemas.openxmlformats.org/drawingml/2006/main">
            <a:off x="5096933" y="1724025"/>
            <a:ext cx="6570133" cy="4619625"/>
          </a:xfrm>
          <a:prstGeom xmlns:a="http://schemas.openxmlformats.org/drawingml/2006/main" prst="rect">
            <a:avLst/>
          </a:prstGeom>
        </p:spPr>
      </p:pic>
    </p:spTree>
    <p:extLst>
      <p:ext uri="{BB962C8B-B14F-4D97-AF65-F5344CB8AC3E}">
        <p14:creationId xmlns:p14="http://schemas.microsoft.com/office/powerpoint/2010/main" val="1636442323"/>
      </p:ext>
    </p:extLst>
  </p:cSld>
</p:sld>
</file>

<file path=ppt/slides/slide6.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D9F73B-61A9-4EA3-A7DA-AC5EFD60FB67}"/>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 recognisable literary character</a:t>
            </a:r>
          </a:p>
        </p:txBody>
      </p:sp>
      <p:sp>
        <p:nvSpPr>
          <p:cNvPr id="2" name="">
            <a:extLst xmlns:a="http://schemas.openxmlformats.org/drawingml/2006/main">
              <a:ext uri="{FF2B5EF4-FFF2-40B4-BE49-F238E27FC236}">
                <a16:creationId xmlns:a16="http://schemas.microsoft.com/office/drawing/2014/main" id="{7B5160C0-8F7C-4B0E-A784-DE6020598220}"/>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9962471F-FEC3-4948-B253-63A9C8110AEA}"/>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6cc56bdb83a4c27"/>
          <a:stretch xmlns:a="http://schemas.openxmlformats.org/drawingml/2006/main"/>
        </p:blipFill>
        <p:spPr>
          <a:xfrm xmlns:a="http://schemas.openxmlformats.org/drawingml/2006/main">
            <a:off x="865944" y="1638300"/>
            <a:ext cx="6211962" cy="47339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2D67CF9-2A9A-4FCF-BB2B-019FC7531901}"/>
              </a:ext>
            </a:extLst>
          </p:cNvPr>
          <p:cNvSpPr>
            <a:spLocks xmlns:a="http://schemas.openxmlformats.org/drawingml/2006/main" noGrp="1"/>
          </p:cNvSpPr>
          <p:nvPr/>
        </p:nvSpPr>
        <p:spPr>
          <a:xfrm xmlns:a="http://schemas.openxmlformats.org/drawingml/2006/main">
            <a:off x="7810500" y="1914525"/>
            <a:ext cx="3714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a:solidFill>
                  <a:srgbClr val="963F28"/>
                </a:solidFill>
                <a:latin typeface="Cormorant Garamond"/>
                <a:ea typeface="Cormorant Garamond"/>
                <a:cs typeface="Cormorant Garamond"/>
              </a:defRPr>
            </a:pPr>
            <a:r>
              <a:rPr sz="2700">
                <a:solidFill>
                  <a:srgbClr val="963F28"/>
                </a:solidFill>
                <a:latin typeface="Cormorant Garamond"/>
                <a:ea typeface="Cormorant Garamond"/>
                <a:cs typeface="Cormorant Garamond"/>
              </a:rPr>
              <a:t>Rooted in Odisha</a:t>
            </a:r>
          </a:p>
        </p:txBody>
      </p:sp>
      <p:sp>
        <p:nvSpPr>
          <p:cNvPr id="6" name="">
            <a:extLst xmlns:a="http://schemas.openxmlformats.org/drawingml/2006/main">
              <a:ext uri="{FF2B5EF4-FFF2-40B4-BE49-F238E27FC236}">
                <a16:creationId xmlns:a16="http://schemas.microsoft.com/office/drawing/2014/main" id="{BC19352E-8F44-44EF-81B4-A49BD130613E}"/>
              </a:ext>
            </a:extLst>
          </p:cNvPr>
          <p:cNvSpPr>
            <a:spLocks xmlns:a="http://schemas.openxmlformats.org/drawingml/2006/main" noGrp="1"/>
          </p:cNvSpPr>
          <p:nvPr/>
        </p:nvSpPr>
        <p:spPr>
          <a:xfrm xmlns:a="http://schemas.openxmlformats.org/drawingml/2006/main">
            <a:off x="7810500" y="2552700"/>
            <a:ext cx="3714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Artwork, warm paper and deep ink give the journal a sense of place.</a:t>
            </a:r>
          </a:p>
        </p:txBody>
      </p:sp>
      <p:sp>
        <p:nvSpPr>
          <p:cNvPr id="7" name="">
            <a:extLst xmlns:a="http://schemas.openxmlformats.org/drawingml/2006/main">
              <a:ext uri="{FF2B5EF4-FFF2-40B4-BE49-F238E27FC236}">
                <a16:creationId xmlns:a16="http://schemas.microsoft.com/office/drawing/2014/main" id="{A1FEF3BC-9505-4985-94E7-5F24552AF5DD}"/>
              </a:ext>
            </a:extLst>
          </p:cNvPr>
          <p:cNvSpPr>
            <a:spLocks xmlns:a="http://schemas.openxmlformats.org/drawingml/2006/main" noGrp="1"/>
          </p:cNvSpPr>
          <p:nvPr/>
        </p:nvSpPr>
        <p:spPr>
          <a:xfrm xmlns:a="http://schemas.openxmlformats.org/drawingml/2006/main">
            <a:off x="7810500" y="430530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a:solidFill>
                  <a:srgbClr val="963F28"/>
                </a:solidFill>
                <a:latin typeface="Cormorant Garamond"/>
                <a:ea typeface="Cormorant Garamond"/>
                <a:cs typeface="Cormorant Garamond"/>
              </a:defRPr>
            </a:pPr>
            <a:r>
              <a:rPr sz="2700">
                <a:solidFill>
                  <a:srgbClr val="963F28"/>
                </a:solidFill>
                <a:latin typeface="Cormorant Garamond"/>
                <a:ea typeface="Cormorant Garamond"/>
                <a:cs typeface="Cormorant Garamond"/>
              </a:rPr>
              <a:t>Open to three languages</a:t>
            </a:r>
          </a:p>
        </p:txBody>
      </p:sp>
      <p:sp>
        <p:nvSpPr>
          <p:cNvPr id="8" name="">
            <a:extLst xmlns:a="http://schemas.openxmlformats.org/drawingml/2006/main">
              <a:ext uri="{FF2B5EF4-FFF2-40B4-BE49-F238E27FC236}">
                <a16:creationId xmlns:a16="http://schemas.microsoft.com/office/drawing/2014/main" id="{165C2CAF-33F0-4913-ABE4-3C75741E5641}"/>
              </a:ext>
            </a:extLst>
          </p:cNvPr>
          <p:cNvSpPr>
            <a:spLocks xmlns:a="http://schemas.openxmlformats.org/drawingml/2006/main" noGrp="1"/>
          </p:cNvSpPr>
          <p:nvPr/>
        </p:nvSpPr>
        <p:spPr>
          <a:xfrm xmlns:a="http://schemas.openxmlformats.org/drawingml/2006/main">
            <a:off x="7810500" y="4991100"/>
            <a:ext cx="3714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Typography gives Odia, Hindi and English space to read comfortably.</a:t>
            </a:r>
          </a:p>
        </p:txBody>
      </p:sp>
    </p:spTree>
    <p:extLst>
      <p:ext uri="{BB962C8B-B14F-4D97-AF65-F5344CB8AC3E}">
        <p14:creationId xmlns:p14="http://schemas.microsoft.com/office/powerpoint/2010/main" val="1976899390"/>
      </p:ext>
    </p:extLst>
  </p:cSld>
</p:sld>
</file>

<file path=ppt/slides/slide7.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CF03AE-2556-40C8-8F5F-CB7C0FB64D0F}"/>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 shared foundation for editors</a:t>
            </a:r>
          </a:p>
        </p:txBody>
      </p:sp>
      <p:sp>
        <p:nvSpPr>
          <p:cNvPr id="2" name="">
            <a:extLst xmlns:a="http://schemas.openxmlformats.org/drawingml/2006/main">
              <a:ext uri="{FF2B5EF4-FFF2-40B4-BE49-F238E27FC236}">
                <a16:creationId xmlns:a16="http://schemas.microsoft.com/office/drawing/2014/main" id="{486FD142-CF39-4E85-B2DA-EDB69DB2AA4F}"/>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D5AE0CA1-85EF-4610-A537-2BBCB077DBE4}"/>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7aae766789d47a8"/>
          <a:stretch xmlns:a="http://schemas.openxmlformats.org/drawingml/2006/main"/>
        </p:blipFill>
        <p:spPr>
          <a:xfrm xmlns:a="http://schemas.openxmlformats.org/drawingml/2006/main">
            <a:off x="523875" y="2155825"/>
            <a:ext cx="5048250" cy="3365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437CE9C-3642-4075-80EB-82C6BBF10271}"/>
              </a:ext>
            </a:extLst>
          </p:cNvPr>
          <p:cNvSpPr>
            <a:spLocks xmlns:a="http://schemas.openxmlformats.org/drawingml/2006/main" noGrp="1"/>
          </p:cNvSpPr>
          <p:nvPr/>
        </p:nvSpPr>
        <p:spPr>
          <a:xfrm xmlns:a="http://schemas.openxmlformats.org/drawingml/2006/main">
            <a:off x="6191250" y="182880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Less reinvention</a:t>
            </a:r>
          </a:p>
        </p:txBody>
      </p:sp>
      <p:sp>
        <p:nvSpPr>
          <p:cNvPr id="6" name="">
            <a:extLst xmlns:a="http://schemas.openxmlformats.org/drawingml/2006/main">
              <a:ext uri="{FF2B5EF4-FFF2-40B4-BE49-F238E27FC236}">
                <a16:creationId xmlns:a16="http://schemas.microsoft.com/office/drawing/2014/main" id="{90EA2ADD-D683-4A8F-A3A6-37BA912612A8}"/>
              </a:ext>
            </a:extLst>
          </p:cNvPr>
          <p:cNvSpPr>
            <a:spLocks xmlns:a="http://schemas.openxmlformats.org/drawingml/2006/main" noGrp="1"/>
          </p:cNvSpPr>
          <p:nvPr/>
        </p:nvSpPr>
        <p:spPr>
          <a:xfrm xmlns:a="http://schemas.openxmlformats.org/drawingml/2006/main">
            <a:off x="6191250" y="2343150"/>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Reusable layouts and editor guidance give routine decisions a common reference.</a:t>
            </a:r>
          </a:p>
        </p:txBody>
      </p:sp>
      <p:sp>
        <p:nvSpPr>
          <p:cNvPr id="7" name="">
            <a:extLst xmlns:a="http://schemas.openxmlformats.org/drawingml/2006/main">
              <a:ext uri="{FF2B5EF4-FFF2-40B4-BE49-F238E27FC236}">
                <a16:creationId xmlns:a16="http://schemas.microsoft.com/office/drawing/2014/main" id="{B5D39D7E-0E3D-4017-9BBB-B8196CDFD287}"/>
              </a:ext>
            </a:extLst>
          </p:cNvPr>
          <p:cNvSpPr>
            <a:spLocks xmlns:a="http://schemas.openxmlformats.org/drawingml/2006/main" noGrp="1"/>
          </p:cNvSpPr>
          <p:nvPr/>
        </p:nvSpPr>
        <p:spPr>
          <a:xfrm xmlns:a="http://schemas.openxmlformats.org/drawingml/2006/main">
            <a:off x="6191250" y="330517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Continuity</a:t>
            </a:r>
          </a:p>
        </p:txBody>
      </p:sp>
      <p:sp>
        <p:nvSpPr>
          <p:cNvPr id="8" name="">
            <a:extLst xmlns:a="http://schemas.openxmlformats.org/drawingml/2006/main">
              <a:ext uri="{FF2B5EF4-FFF2-40B4-BE49-F238E27FC236}">
                <a16:creationId xmlns:a16="http://schemas.microsoft.com/office/drawing/2014/main" id="{0D61C346-82A7-432A-9D3A-D6288FD0809D}"/>
              </a:ext>
            </a:extLst>
          </p:cNvPr>
          <p:cNvSpPr>
            <a:spLocks xmlns:a="http://schemas.openxmlformats.org/drawingml/2006/main" noGrp="1"/>
          </p:cNvSpPr>
          <p:nvPr/>
        </p:nvSpPr>
        <p:spPr>
          <a:xfrm xmlns:a="http://schemas.openxmlformats.org/drawingml/2006/main">
            <a:off x="6191250" y="3819525"/>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Preserved originals and research help future changes respect the magazine’s history.</a:t>
            </a:r>
          </a:p>
        </p:txBody>
      </p:sp>
      <p:sp>
        <p:nvSpPr>
          <p:cNvPr id="9" name="">
            <a:extLst xmlns:a="http://schemas.openxmlformats.org/drawingml/2006/main">
              <a:ext uri="{FF2B5EF4-FFF2-40B4-BE49-F238E27FC236}">
                <a16:creationId xmlns:a16="http://schemas.microsoft.com/office/drawing/2014/main" id="{2448E25A-CB7E-456E-993F-96BCFEF40044}"/>
              </a:ext>
            </a:extLst>
          </p:cNvPr>
          <p:cNvSpPr>
            <a:spLocks xmlns:a="http://schemas.openxmlformats.org/drawingml/2006/main" noGrp="1"/>
          </p:cNvSpPr>
          <p:nvPr/>
        </p:nvSpPr>
        <p:spPr>
          <a:xfrm xmlns:a="http://schemas.openxmlformats.org/drawingml/2006/main">
            <a:off x="6191250" y="478155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More room for editorial ideas</a:t>
            </a:r>
          </a:p>
        </p:txBody>
      </p:sp>
      <p:sp>
        <p:nvSpPr>
          <p:cNvPr id="10" name="">
            <a:extLst xmlns:a="http://schemas.openxmlformats.org/drawingml/2006/main">
              <a:ext uri="{FF2B5EF4-FFF2-40B4-BE49-F238E27FC236}">
                <a16:creationId xmlns:a16="http://schemas.microsoft.com/office/drawing/2014/main" id="{E789E874-7C6F-4EF5-A018-757EA2E8CF18}"/>
              </a:ext>
            </a:extLst>
          </p:cNvPr>
          <p:cNvSpPr>
            <a:spLocks xmlns:a="http://schemas.openxmlformats.org/drawingml/2006/main" noGrp="1"/>
          </p:cNvSpPr>
          <p:nvPr/>
        </p:nvSpPr>
        <p:spPr>
          <a:xfrm xmlns:a="http://schemas.openxmlformats.org/drawingml/2006/main">
            <a:off x="6191250" y="5295900"/>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That foundation supports attention to poems, contributors and the shape of an edition.</a:t>
            </a:r>
          </a:p>
        </p:txBody>
      </p:sp>
    </p:spTree>
    <p:extLst>
      <p:ext uri="{BB962C8B-B14F-4D97-AF65-F5344CB8AC3E}">
        <p14:creationId xmlns:p14="http://schemas.microsoft.com/office/powerpoint/2010/main" val="460927006"/>
      </p:ext>
    </p:extLst>
  </p:cSld>
</p:sld>
</file>

<file path=ppt/slides/slide8.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F15A0FC-E71A-4BB8-94E2-7609B99DCB0F}"/>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Creative possibilities for the magazine</a:t>
            </a:r>
          </a:p>
        </p:txBody>
      </p:sp>
      <p:sp>
        <p:nvSpPr>
          <p:cNvPr id="2" name="">
            <a:extLst xmlns:a="http://schemas.openxmlformats.org/drawingml/2006/main">
              <a:ext uri="{FF2B5EF4-FFF2-40B4-BE49-F238E27FC236}">
                <a16:creationId xmlns:a16="http://schemas.microsoft.com/office/drawing/2014/main" id="{39156C1D-49EE-48DD-8456-6C5CCEA5A22A}"/>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D2EC740E-DF6D-4F80-A297-8ACAC391D1D9}"/>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08</a:t>
            </a:r>
          </a:p>
        </p:txBody>
      </p:sp>
      <p:sp>
        <p:nvSpPr>
          <p:cNvPr id="4" name="">
            <a:extLst xmlns:a="http://schemas.openxmlformats.org/drawingml/2006/main">
              <a:ext uri="{FF2B5EF4-FFF2-40B4-BE49-F238E27FC236}">
                <a16:creationId xmlns:a16="http://schemas.microsoft.com/office/drawing/2014/main" id="{CB99522C-39E1-4EE9-A58E-5FA4F167F268}"/>
              </a:ext>
            </a:extLst>
          </p:cNvPr>
          <p:cNvSpPr>
            <a:spLocks xmlns:a="http://schemas.openxmlformats.org/drawingml/2006/main" noGrp="1"/>
          </p:cNvSpPr>
          <p:nvPr/>
        </p:nvSpPr>
        <p:spPr>
          <a:xfrm xmlns:a="http://schemas.openxmlformats.org/drawingml/2006/main">
            <a:off x="666750" y="20478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a:solidFill>
                  <a:srgbClr val="963F28"/>
                </a:solidFill>
                <a:latin typeface="Cormorant Garamond"/>
                <a:ea typeface="Cormorant Garamond"/>
                <a:cs typeface="Cormorant Garamond"/>
              </a:defRPr>
            </a:pPr>
            <a:r>
              <a:rPr sz="2625">
                <a:solidFill>
                  <a:srgbClr val="963F28"/>
                </a:solidFill>
                <a:latin typeface="Cormorant Garamond"/>
                <a:ea typeface="Cormorant Garamond"/>
                <a:cs typeface="Cormorant Garamond"/>
              </a:rPr>
              <a:t>Curated conversations</a:t>
            </a:r>
          </a:p>
        </p:txBody>
      </p:sp>
      <p:sp>
        <p:nvSpPr>
          <p:cNvPr id="5" name="">
            <a:extLst xmlns:a="http://schemas.openxmlformats.org/drawingml/2006/main">
              <a:ext uri="{FF2B5EF4-FFF2-40B4-BE49-F238E27FC236}">
                <a16:creationId xmlns:a16="http://schemas.microsoft.com/office/drawing/2014/main" id="{8B78467F-D752-4946-915E-4E936FFD313E}"/>
              </a:ext>
            </a:extLst>
          </p:cNvPr>
          <p:cNvSpPr>
            <a:spLocks xmlns:a="http://schemas.openxmlformats.org/drawingml/2006/main" noGrp="1"/>
          </p:cNvSpPr>
          <p:nvPr/>
        </p:nvSpPr>
        <p:spPr>
          <a:xfrm xmlns:a="http://schemas.openxmlformats.org/drawingml/2006/main">
            <a:off x="666750" y="278130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Bring poems across editions and languages together around a theme.</a:t>
            </a:r>
          </a:p>
        </p:txBody>
      </p:sp>
      <p:sp>
        <p:nvSpPr>
          <p:cNvPr id="6" name="">
            <a:extLst xmlns:a="http://schemas.openxmlformats.org/drawingml/2006/main">
              <a:ext uri="{FF2B5EF4-FFF2-40B4-BE49-F238E27FC236}">
                <a16:creationId xmlns:a16="http://schemas.microsoft.com/office/drawing/2014/main" id="{15F8A442-F99F-4266-BE4A-35F2CB88AAFE}"/>
              </a:ext>
            </a:extLst>
          </p:cNvPr>
          <p:cNvSpPr>
            <a:spLocks xmlns:a="http://schemas.openxmlformats.org/drawingml/2006/main" noGrp="1"/>
          </p:cNvSpPr>
          <p:nvPr/>
        </p:nvSpPr>
        <p:spPr>
          <a:xfrm xmlns:a="http://schemas.openxmlformats.org/drawingml/2006/main">
            <a:off x="6477000" y="20478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a:solidFill>
                  <a:srgbClr val="963F28"/>
                </a:solidFill>
                <a:latin typeface="Cormorant Garamond"/>
                <a:ea typeface="Cormorant Garamond"/>
                <a:cs typeface="Cormorant Garamond"/>
              </a:defRPr>
            </a:pPr>
            <a:r>
              <a:rPr sz="2625">
                <a:solidFill>
                  <a:srgbClr val="963F28"/>
                </a:solidFill>
                <a:latin typeface="Cormorant Garamond"/>
                <a:ea typeface="Cormorant Garamond"/>
                <a:cs typeface="Cormorant Garamond"/>
              </a:rPr>
              <a:t>The poet behind the poem</a:t>
            </a:r>
          </a:p>
        </p:txBody>
      </p:sp>
      <p:sp>
        <p:nvSpPr>
          <p:cNvPr id="7" name="">
            <a:extLst xmlns:a="http://schemas.openxmlformats.org/drawingml/2006/main">
              <a:ext uri="{FF2B5EF4-FFF2-40B4-BE49-F238E27FC236}">
                <a16:creationId xmlns:a16="http://schemas.microsoft.com/office/drawing/2014/main" id="{866B5100-98ED-47DA-9866-B6BEAF41FE72}"/>
              </a:ext>
            </a:extLst>
          </p:cNvPr>
          <p:cNvSpPr>
            <a:spLocks xmlns:a="http://schemas.openxmlformats.org/drawingml/2006/main" noGrp="1"/>
          </p:cNvSpPr>
          <p:nvPr/>
        </p:nvSpPr>
        <p:spPr>
          <a:xfrm xmlns:a="http://schemas.openxmlformats.org/drawingml/2006/main">
            <a:off x="6477000" y="278130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Invite a short reflection on a poem’s beginning or a creative choice.</a:t>
            </a:r>
          </a:p>
        </p:txBody>
      </p:sp>
      <p:sp>
        <p:nvSpPr>
          <p:cNvPr id="8" name="">
            <a:extLst xmlns:a="http://schemas.openxmlformats.org/drawingml/2006/main">
              <a:ext uri="{FF2B5EF4-FFF2-40B4-BE49-F238E27FC236}">
                <a16:creationId xmlns:a16="http://schemas.microsoft.com/office/drawing/2014/main" id="{F2F3120E-5628-4877-A1DC-C9CC18A609B8}"/>
              </a:ext>
            </a:extLst>
          </p:cNvPr>
          <p:cNvSpPr>
            <a:spLocks xmlns:a="http://schemas.openxmlformats.org/drawingml/2006/main" noGrp="1"/>
          </p:cNvSpPr>
          <p:nvPr/>
        </p:nvSpPr>
        <p:spPr>
          <a:xfrm xmlns:a="http://schemas.openxmlformats.org/drawingml/2006/main">
            <a:off x="666750" y="4238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a:solidFill>
                  <a:srgbClr val="963F28"/>
                </a:solidFill>
                <a:latin typeface="Cormorant Garamond"/>
                <a:ea typeface="Cormorant Garamond"/>
                <a:cs typeface="Cormorant Garamond"/>
              </a:defRPr>
            </a:pPr>
            <a:r>
              <a:rPr sz="2625">
                <a:solidFill>
                  <a:srgbClr val="963F28"/>
                </a:solidFill>
                <a:latin typeface="Cormorant Garamond"/>
                <a:ea typeface="Cormorant Garamond"/>
                <a:cs typeface="Cormorant Garamond"/>
              </a:rPr>
              <a:t>Collaboration across forms</a:t>
            </a:r>
          </a:p>
        </p:txBody>
      </p:sp>
      <p:sp>
        <p:nvSpPr>
          <p:cNvPr id="9" name="">
            <a:extLst xmlns:a="http://schemas.openxmlformats.org/drawingml/2006/main">
              <a:ext uri="{FF2B5EF4-FFF2-40B4-BE49-F238E27FC236}">
                <a16:creationId xmlns:a16="http://schemas.microsoft.com/office/drawing/2014/main" id="{2139B567-D4F8-4165-A2FB-19FB6C53EB6A}"/>
              </a:ext>
            </a:extLst>
          </p:cNvPr>
          <p:cNvSpPr>
            <a:spLocks xmlns:a="http://schemas.openxmlformats.org/drawingml/2006/main" noGrp="1"/>
          </p:cNvSpPr>
          <p:nvPr/>
        </p:nvSpPr>
        <p:spPr>
          <a:xfrm xmlns:a="http://schemas.openxmlformats.org/drawingml/2006/main">
            <a:off x="666750" y="497205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Explore reviewed translations, commissioned art or carefully produced readings.</a:t>
            </a:r>
          </a:p>
        </p:txBody>
      </p:sp>
      <p:sp>
        <p:nvSpPr>
          <p:cNvPr id="10" name="">
            <a:extLst xmlns:a="http://schemas.openxmlformats.org/drawingml/2006/main">
              <a:ext uri="{FF2B5EF4-FFF2-40B4-BE49-F238E27FC236}">
                <a16:creationId xmlns:a16="http://schemas.microsoft.com/office/drawing/2014/main" id="{C06F9A23-6F9C-4E1E-953D-E047710A3485}"/>
              </a:ext>
            </a:extLst>
          </p:cNvPr>
          <p:cNvSpPr>
            <a:spLocks xmlns:a="http://schemas.openxmlformats.org/drawingml/2006/main" noGrp="1"/>
          </p:cNvSpPr>
          <p:nvPr/>
        </p:nvSpPr>
        <p:spPr>
          <a:xfrm xmlns:a="http://schemas.openxmlformats.org/drawingml/2006/main">
            <a:off x="6477000" y="4238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a:solidFill>
                  <a:srgbClr val="963F28"/>
                </a:solidFill>
                <a:latin typeface="Cormorant Garamond"/>
                <a:ea typeface="Cormorant Garamond"/>
                <a:cs typeface="Cormorant Garamond"/>
              </a:defRPr>
            </a:pPr>
            <a:r>
              <a:rPr sz="2625">
                <a:solidFill>
                  <a:srgbClr val="963F28"/>
                </a:solidFill>
                <a:latin typeface="Cormorant Garamond"/>
                <a:ea typeface="Cormorant Garamond"/>
                <a:cs typeface="Cormorant Garamond"/>
              </a:rPr>
              <a:t>Thoughtful reader participation</a:t>
            </a:r>
          </a:p>
        </p:txBody>
      </p:sp>
      <p:sp>
        <p:nvSpPr>
          <p:cNvPr id="11" name="">
            <a:extLst xmlns:a="http://schemas.openxmlformats.org/drawingml/2006/main">
              <a:ext uri="{FF2B5EF4-FFF2-40B4-BE49-F238E27FC236}">
                <a16:creationId xmlns:a16="http://schemas.microsoft.com/office/drawing/2014/main" id="{F6A9F881-ECAA-475E-A77F-2F1E21A34AAD}"/>
              </a:ext>
            </a:extLst>
          </p:cNvPr>
          <p:cNvSpPr>
            <a:spLocks xmlns:a="http://schemas.openxmlformats.org/drawingml/2006/main" noGrp="1"/>
          </p:cNvSpPr>
          <p:nvPr/>
        </p:nvSpPr>
        <p:spPr>
          <a:xfrm xmlns:a="http://schemas.openxmlformats.org/drawingml/2006/main">
            <a:off x="6477000" y="497205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Let private feedback reveal questions and interests worth exploring.</a:t>
            </a:r>
          </a:p>
        </p:txBody>
      </p:sp>
    </p:spTree>
    <p:extLst>
      <p:ext uri="{BB962C8B-B14F-4D97-AF65-F5344CB8AC3E}">
        <p14:creationId xmlns:p14="http://schemas.microsoft.com/office/powerpoint/2010/main" val="1294570054"/>
      </p:ext>
    </p:extLst>
  </p:cSld>
</p:sld>
</file>

<file path=ppt/slides/slide9.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DDAFE6-AC32-46DF-AF7A-2EB8EB0CAF67}"/>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One possibility: a collection on rain</a:t>
            </a:r>
          </a:p>
        </p:txBody>
      </p:sp>
      <p:sp>
        <p:nvSpPr>
          <p:cNvPr id="2" name="">
            <a:extLst xmlns:a="http://schemas.openxmlformats.org/drawingml/2006/main">
              <a:ext uri="{FF2B5EF4-FFF2-40B4-BE49-F238E27FC236}">
                <a16:creationId xmlns:a16="http://schemas.microsoft.com/office/drawing/2014/main" id="{60C7EC7A-EE0F-49EC-BF07-38D0727E1FB7}"/>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7C06042D-43AB-4168-8A81-188C5BA0A740}"/>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09</a:t>
            </a:r>
          </a:p>
        </p:txBody>
      </p:sp>
      <p:sp>
        <p:nvSpPr>
          <p:cNvPr id="4" name="">
            <a:extLst xmlns:a="http://schemas.openxmlformats.org/drawingml/2006/main">
              <a:ext uri="{FF2B5EF4-FFF2-40B4-BE49-F238E27FC236}">
                <a16:creationId xmlns:a16="http://schemas.microsoft.com/office/drawing/2014/main" id="{303A9401-41AF-4A8A-9A9E-21D21F48E218}"/>
              </a:ext>
            </a:extLst>
          </p:cNvPr>
          <p:cNvSpPr>
            <a:spLocks xmlns:a="http://schemas.openxmlformats.org/drawingml/2006/main" noGrp="1"/>
          </p:cNvSpPr>
          <p:nvPr/>
        </p:nvSpPr>
        <p:spPr>
          <a:xfrm xmlns:a="http://schemas.openxmlformats.org/drawingml/2006/main">
            <a:off x="666750" y="1752600"/>
            <a:ext cx="4762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63C3C"/>
                </a:solidFill>
                <a:latin typeface="Source Serif 4"/>
                <a:ea typeface="Source Serif 4"/>
                <a:cs typeface="Source Serif 4"/>
              </a:defRPr>
            </a:pPr>
            <a:r>
              <a:rPr sz="2325">
                <a:solidFill>
                  <a:srgbClr val="263C3C"/>
                </a:solidFill>
                <a:latin typeface="Source Serif 4"/>
                <a:ea typeface="Source Serif 4"/>
                <a:cs typeface="Source Serif 4"/>
              </a:rPr>
              <a:t>A theme can make new connections within the existing archive.</a:t>
            </a:r>
          </a:p>
        </p:txBody>
      </p:sp>
      <p:sp>
        <p:nvSpPr>
          <p:cNvPr id="5" name="">
            <a:extLst xmlns:a="http://schemas.openxmlformats.org/drawingml/2006/main">
              <a:ext uri="{FF2B5EF4-FFF2-40B4-BE49-F238E27FC236}">
                <a16:creationId xmlns:a16="http://schemas.microsoft.com/office/drawing/2014/main" id="{16A20F63-4E94-4B28-A8E4-7B1708F93703}"/>
              </a:ext>
            </a:extLst>
          </p:cNvPr>
          <p:cNvSpPr>
            <a:spLocks xmlns:a="http://schemas.openxmlformats.org/drawingml/2006/main" noGrp="1"/>
          </p:cNvSpPr>
          <p:nvPr/>
        </p:nvSpPr>
        <p:spPr>
          <a:xfrm xmlns:a="http://schemas.openxmlformats.org/drawingml/2006/main">
            <a:off x="666750" y="3114675"/>
            <a:ext cx="47625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An editor could select poems from different issues, introduce their shared theme and invite a poet to reflect on one work.</a:t>
            </a:r>
          </a:p>
        </p:txBody>
      </p:sp>
      <p:sp>
        <p:nvSpPr>
          <p:cNvPr id="6" name="">
            <a:extLst xmlns:a="http://schemas.openxmlformats.org/drawingml/2006/main">
              <a:ext uri="{FF2B5EF4-FFF2-40B4-BE49-F238E27FC236}">
                <a16:creationId xmlns:a16="http://schemas.microsoft.com/office/drawing/2014/main" id="{AED5325E-27B9-4B97-9A9D-7E082F0574C6}"/>
              </a:ext>
            </a:extLst>
          </p:cNvPr>
          <p:cNvSpPr>
            <a:spLocks xmlns:a="http://schemas.openxmlformats.org/drawingml/2006/main" noGrp="1"/>
          </p:cNvSpPr>
          <p:nvPr/>
        </p:nvSpPr>
        <p:spPr>
          <a:xfrm xmlns:a="http://schemas.openxmlformats.org/drawingml/2006/main">
            <a:off x="666750" y="5334000"/>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963F28"/>
                </a:solidFill>
                <a:latin typeface="Cormorant Garamond"/>
                <a:ea typeface="Cormorant Garamond"/>
                <a:cs typeface="Cormorant Garamond"/>
              </a:defRPr>
            </a:pPr>
            <a:r>
              <a:rPr sz="2100">
                <a:solidFill>
                  <a:srgbClr val="963F28"/>
                </a:solidFill>
                <a:latin typeface="Cormorant Garamond"/>
                <a:ea typeface="Cormorant Garamond"/>
                <a:cs typeface="Cormorant Garamond"/>
              </a:rPr>
              <a:t>One collection. Several voices. A fresh reason to return.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3f3114a1d394aad"/>
          <a:stretch xmlns:a="http://schemas.openxmlformats.org/drawingml/2006/main"/>
        </p:blipFill>
        <p:spPr>
          <a:xfrm xmlns:a="http://schemas.openxmlformats.org/drawingml/2006/main">
            <a:off x="5857875" y="1776413"/>
            <a:ext cx="5715000" cy="3810000"/>
          </a:xfrm>
          <a:prstGeom xmlns:a="http://schemas.openxmlformats.org/drawingml/2006/main" prst="rect">
            <a:avLst/>
          </a:prstGeom>
        </p:spPr>
      </p:pic>
    </p:spTree>
    <p:extLst>
      <p:ext uri="{BB962C8B-B14F-4D97-AF65-F5344CB8AC3E}">
        <p14:creationId xmlns:p14="http://schemas.microsoft.com/office/powerpoint/2010/main" val="1922624584"/>
      </p:ext>
    </p:extLst>
  </p:cSld>
</p:sld>
</file>

<file path=ppt/slides/slide10.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0063FA-2F02-444A-8E95-65EB7315DB91}"/>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 literary home to grow together</a:t>
            </a:r>
          </a:p>
        </p:txBody>
      </p:sp>
      <p:sp>
        <p:nvSpPr>
          <p:cNvPr id="2" name="">
            <a:extLst xmlns:a="http://schemas.openxmlformats.org/drawingml/2006/main">
              <a:ext uri="{FF2B5EF4-FFF2-40B4-BE49-F238E27FC236}">
                <a16:creationId xmlns:a16="http://schemas.microsoft.com/office/drawing/2014/main" id="{59E9883B-108E-4CA1-B1A1-FC70D4C5F1A6}"/>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9B2EB83F-9452-48EB-B672-4EB4C4B7B420}"/>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00c5e41b0a6420d"/>
          <a:stretch xmlns:a="http://schemas.openxmlformats.org/drawingml/2006/main"/>
        </p:blipFill>
        <p:spPr>
          <a:xfrm xmlns:a="http://schemas.openxmlformats.org/drawingml/2006/main">
            <a:off x="428625" y="1925638"/>
            <a:ext cx="5810250" cy="3873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CF6FBB0-C969-4300-9D98-1B6FFB44A6B9}"/>
              </a:ext>
            </a:extLst>
          </p:cNvPr>
          <p:cNvSpPr>
            <a:spLocks xmlns:a="http://schemas.openxmlformats.org/drawingml/2006/main" noGrp="1"/>
          </p:cNvSpPr>
          <p:nvPr/>
        </p:nvSpPr>
        <p:spPr>
          <a:xfrm xmlns:a="http://schemas.openxmlformats.org/drawingml/2006/main">
            <a:off x="6762750" y="1857375"/>
            <a:ext cx="47148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a:solidFill>
                  <a:srgbClr val="263C3C"/>
                </a:solidFill>
                <a:latin typeface="Cormorant Garamond"/>
                <a:ea typeface="Cormorant Garamond"/>
                <a:cs typeface="Cormorant Garamond"/>
              </a:defRPr>
            </a:pPr>
            <a:r>
              <a:rPr sz="2700">
                <a:solidFill>
                  <a:srgbClr val="263C3C"/>
                </a:solidFill>
                <a:latin typeface="Cormorant Garamond"/>
                <a:ea typeface="Cormorant Garamond"/>
                <a:cs typeface="Cormorant Garamond"/>
              </a:rPr>
              <a:t>Editors shape the direction.</a:t>
            </a:r>
          </a:p>
          <a:p xmlns:a="http://schemas.openxmlformats.org/drawingml/2006/main">
            <a:pPr>
              <a:defRPr sz="2700">
                <a:solidFill>
                  <a:srgbClr val="263C3C"/>
                </a:solidFill>
                <a:latin typeface="Cormorant Garamond"/>
                <a:ea typeface="Cormorant Garamond"/>
                <a:cs typeface="Cormorant Garamond"/>
              </a:defRPr>
            </a:pPr>
            <a:r>
              <a:rPr sz="2700">
                <a:solidFill>
                  <a:srgbClr val="263C3C"/>
                </a:solidFill>
                <a:latin typeface="Cormorant Garamond"/>
                <a:ea typeface="Cormorant Garamond"/>
                <a:cs typeface="Cormorant Garamond"/>
              </a:rPr>
              <a:t>Poets bring their voices.</a:t>
            </a:r>
          </a:p>
          <a:p xmlns:a="http://schemas.openxmlformats.org/drawingml/2006/main">
            <a:pPr>
              <a:defRPr sz="2700">
                <a:solidFill>
                  <a:srgbClr val="263C3C"/>
                </a:solidFill>
                <a:latin typeface="Cormorant Garamond"/>
                <a:ea typeface="Cormorant Garamond"/>
                <a:cs typeface="Cormorant Garamond"/>
              </a:defRPr>
            </a:pPr>
            <a:r>
              <a:rPr sz="2700">
                <a:solidFill>
                  <a:srgbClr val="263C3C"/>
                </a:solidFill>
                <a:latin typeface="Cormorant Garamond"/>
                <a:ea typeface="Cormorant Garamond"/>
                <a:cs typeface="Cormorant Garamond"/>
              </a:rPr>
              <a:t>Readers bring their attention.</a:t>
            </a:r>
          </a:p>
        </p:txBody>
      </p:sp>
      <p:sp>
        <p:nvSpPr>
          <p:cNvPr id="6" name="">
            <a:extLst xmlns:a="http://schemas.openxmlformats.org/drawingml/2006/main">
              <a:ext uri="{FF2B5EF4-FFF2-40B4-BE49-F238E27FC236}">
                <a16:creationId xmlns:a16="http://schemas.microsoft.com/office/drawing/2014/main" id="{E3858A7B-1ADA-41F1-83B4-470D493D06D0}"/>
              </a:ext>
            </a:extLst>
          </p:cNvPr>
          <p:cNvSpPr>
            <a:spLocks xmlns:a="http://schemas.openxmlformats.org/drawingml/2006/main" noGrp="1"/>
          </p:cNvSpPr>
          <p:nvPr/>
        </p:nvSpPr>
        <p:spPr>
          <a:xfrm xmlns:a="http://schemas.openxmlformats.org/drawingml/2006/main">
            <a:off x="6762750" y="3867150"/>
            <a:ext cx="4714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The hosted preview is ready to explore and share.</a:t>
            </a:r>
          </a:p>
        </p:txBody>
      </p:sp>
      <p:sp>
        <p:nvSpPr>
          <p:cNvPr id="7" name="">
            <a:extLst xmlns:a="http://schemas.openxmlformats.org/drawingml/2006/main">
              <a:ext uri="{FF2B5EF4-FFF2-40B4-BE49-F238E27FC236}">
                <a16:creationId xmlns:a16="http://schemas.microsoft.com/office/drawing/2014/main" id="{B566A347-FD4C-4637-A8A3-33C3C8A5EB05}"/>
              </a:ext>
            </a:extLst>
          </p:cNvPr>
          <p:cNvSpPr>
            <a:spLocks xmlns:a="http://schemas.openxmlformats.org/drawingml/2006/main" noGrp="1"/>
          </p:cNvSpPr>
          <p:nvPr/>
        </p:nvSpPr>
        <p:spPr>
          <a:xfrm xmlns:a="http://schemas.openxmlformats.org/drawingml/2006/main">
            <a:off x="6762750" y="5286375"/>
            <a:ext cx="4714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963F28"/>
                </a:solidFill>
                <a:latin typeface="Source Serif 4"/>
                <a:ea typeface="Source Serif 4"/>
                <a:cs typeface="Source Serif 4"/>
              </a:defRPr>
            </a:pPr>
            <a:r>
              <a:rPr sz="1725">
                <a:solidFill>
                  <a:srgbClr val="963F28"/>
                </a:solidFill>
                <a:latin typeface="Source Serif 4"/>
                <a:ea typeface="Source Serif 4"/>
                <a:cs typeface="Source Serif 4"/>
                <a:hlinkClick xmlns:r="http://schemas.openxmlformats.org/officeDocument/2006/relationships" r:id="Rde6ba729e3be4336"/>
              </a:rPr>
              <a:t>ahimanikya.github.io/kabita-live</a:t>
            </a:r>
          </a:p>
        </p:txBody>
      </p:sp>
    </p:spTree>
    <p:extLst>
      <p:ext uri="{BB962C8B-B14F-4D97-AF65-F5344CB8AC3E}">
        <p14:creationId xmlns:p14="http://schemas.microsoft.com/office/powerpoint/2010/main" val="10985661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2026-10-02T14:55:35.3430000Z</dcterms:created>
  <dcterms:modified xsi:type="dcterms:W3CDTF">2026-10-02T14:55:35.3430000Z</dcterms:modified>
</coreProperties>
</file>